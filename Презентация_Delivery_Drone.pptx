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7"/>
  </p:notesMasterIdLst>
  <p:sldIdLst>
    <p:sldId id="256" r:id="rId2"/>
    <p:sldId id="257" r:id="rId3"/>
    <p:sldId id="259" r:id="rId4"/>
    <p:sldId id="263" r:id="rId5"/>
    <p:sldId id="264" r:id="rId6"/>
    <p:sldId id="265" r:id="rId7"/>
    <p:sldId id="267" r:id="rId8"/>
    <p:sldId id="296" r:id="rId9"/>
    <p:sldId id="297" r:id="rId10"/>
    <p:sldId id="262" r:id="rId11"/>
    <p:sldId id="275" r:id="rId12"/>
    <p:sldId id="274" r:id="rId13"/>
    <p:sldId id="260" r:id="rId14"/>
    <p:sldId id="270" r:id="rId15"/>
    <p:sldId id="298" r:id="rId16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8"/>
    </p:embeddedFont>
    <p:embeddedFont>
      <p:font typeface="Bebas Neue" panose="020B0606020202050201" pitchFamily="34" charset="0"/>
      <p:regular r:id="rId19"/>
    </p:embeddedFont>
    <p:embeddedFont>
      <p:font typeface="Inter" panose="020B0604020202020204" charset="0"/>
      <p:regular r:id="rId20"/>
      <p:bold r:id="rId21"/>
      <p:italic r:id="rId22"/>
      <p:boldItalic r:id="rId23"/>
    </p:embeddedFont>
    <p:embeddedFont>
      <p:font typeface="Passion One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518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AD4FF98-227F-452A-84B2-AA045A303433}">
  <a:tblStyle styleId="{AAD4FF98-227F-452A-84B2-AA045A30343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4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e1d838b62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1" name="Google Shape;481;ge1d838b62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ge1d838b627_4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6" name="Google Shape;656;ge1d838b627_4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7eff44cef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27eff44cef2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651b29f6b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651b29f6b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e1d838b627_4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e1d838b627_4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86281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78237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7eff44cef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7eff44cef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27eff44cef2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27eff44cef2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e1d838b627_4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e1d838b627_4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432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545187" y="2539113"/>
            <a:ext cx="2909077" cy="290907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2"/>
          <p:cNvSpPr/>
          <p:nvPr/>
        </p:nvSpPr>
        <p:spPr>
          <a:xfrm>
            <a:off x="7073900" y="4334213"/>
            <a:ext cx="2909077" cy="290907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-90650" y="-73963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8488469" y="99066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431847" y="3177967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8734960" y="342095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"/>
          <p:cNvSpPr/>
          <p:nvPr/>
        </p:nvSpPr>
        <p:spPr>
          <a:xfrm rot="-2700000">
            <a:off x="8734956" y="4708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 rot="-2700000">
            <a:off x="3258027" y="2948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rot="-2700000">
            <a:off x="2091794" y="46543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rot="-2700000">
            <a:off x="266135" y="18944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495722" y="171242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5548472" y="4814317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ctrTitle"/>
          </p:nvPr>
        </p:nvSpPr>
        <p:spPr>
          <a:xfrm>
            <a:off x="1814850" y="1577788"/>
            <a:ext cx="5514300" cy="17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ubTitle" idx="1"/>
          </p:nvPr>
        </p:nvSpPr>
        <p:spPr>
          <a:xfrm>
            <a:off x="2430150" y="3547500"/>
            <a:ext cx="4283700" cy="45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ctrTitle" idx="2"/>
          </p:nvPr>
        </p:nvSpPr>
        <p:spPr>
          <a:xfrm>
            <a:off x="6938575" y="552675"/>
            <a:ext cx="1492200" cy="450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800"/>
              <a:buNone/>
              <a:defRPr sz="18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/>
          <p:nvPr/>
        </p:nvSpPr>
        <p:spPr>
          <a:xfrm>
            <a:off x="-1626298" y="2598094"/>
            <a:ext cx="3114423" cy="3114423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7191750" y="-13688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59972" y="7434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 rot="-2700000">
            <a:off x="4446660" y="20412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 rot="-2700000">
            <a:off x="8603477" y="25031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 rot="-2700000">
            <a:off x="2404760" y="476165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 rot="-2700000">
            <a:off x="6853619" y="463243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848072" y="43967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>
            <a:spLocks noGrp="1"/>
          </p:cNvSpPr>
          <p:nvPr>
            <p:ph type="title"/>
          </p:nvPr>
        </p:nvSpPr>
        <p:spPr>
          <a:xfrm>
            <a:off x="3151900" y="1636350"/>
            <a:ext cx="4150500" cy="1302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 idx="2" hasCustomPrompt="1"/>
          </p:nvPr>
        </p:nvSpPr>
        <p:spPr>
          <a:xfrm>
            <a:off x="1475300" y="1690000"/>
            <a:ext cx="1294500" cy="908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1"/>
          </p:nvPr>
        </p:nvSpPr>
        <p:spPr>
          <a:xfrm>
            <a:off x="3151900" y="3080475"/>
            <a:ext cx="3124800" cy="6930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720000" y="1090525"/>
            <a:ext cx="7704000" cy="4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Darker Grotesque SemiBold"/>
              <a:buChar char="●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869273" y="-1426102"/>
            <a:ext cx="2352930" cy="235293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 rot="-5400000">
            <a:off x="-659310" y="4179469"/>
            <a:ext cx="1686418" cy="729495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" name="Google Shape;41;p4"/>
          <p:cNvGrpSpPr/>
          <p:nvPr/>
        </p:nvGrpSpPr>
        <p:grpSpPr>
          <a:xfrm>
            <a:off x="7522021" y="-362459"/>
            <a:ext cx="901968" cy="901968"/>
            <a:chOff x="1350404" y="-3124999"/>
            <a:chExt cx="1570279" cy="1570279"/>
          </a:xfrm>
        </p:grpSpPr>
        <p:sp>
          <p:nvSpPr>
            <p:cNvPr id="42" name="Google Shape;42;p4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" name="Google Shape;46;p4"/>
          <p:cNvSpPr/>
          <p:nvPr/>
        </p:nvSpPr>
        <p:spPr>
          <a:xfrm rot="-2700000">
            <a:off x="222460" y="19835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 rot="-2700000">
            <a:off x="2415394" y="48410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 rot="-2700000">
            <a:off x="4455852" y="1388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215272" y="2681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 rot="-2700000">
            <a:off x="8781469" y="21161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720000" y="1657325"/>
            <a:ext cx="3692400" cy="11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720000" y="1324175"/>
            <a:ext cx="369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720000" y="3326625"/>
            <a:ext cx="3692400" cy="111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720000" y="2993475"/>
            <a:ext cx="36924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733623" y="3739775"/>
            <a:ext cx="2549720" cy="254972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" name="Google Shape;58;p5"/>
          <p:cNvGrpSpPr/>
          <p:nvPr/>
        </p:nvGrpSpPr>
        <p:grpSpPr>
          <a:xfrm>
            <a:off x="4480608" y="-456934"/>
            <a:ext cx="901968" cy="901968"/>
            <a:chOff x="1350404" y="-3124999"/>
            <a:chExt cx="1570279" cy="1570279"/>
          </a:xfrm>
        </p:grpSpPr>
        <p:sp>
          <p:nvSpPr>
            <p:cNvPr id="59" name="Google Shape;59;p5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" name="Google Shape;63;p5"/>
          <p:cNvSpPr/>
          <p:nvPr/>
        </p:nvSpPr>
        <p:spPr>
          <a:xfrm rot="-2700000">
            <a:off x="2949972" y="10604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 rot="-2700000">
            <a:off x="297915" y="14793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 rot="-2700000">
            <a:off x="2193523" y="477138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 rot="-2700000">
            <a:off x="8773656" y="5142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588310" y="33213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098375" y="-3463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 rot="-2700000">
            <a:off x="233547" y="14170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 rot="-2700000">
            <a:off x="2722381" y="1465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 rot="-2700000">
            <a:off x="8554690" y="48277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 rot="-2700000">
            <a:off x="8674698" y="20339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 rot="-2700000">
            <a:off x="4347506" y="50218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2012760" y="48737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-1783369" y="219961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"/>
          <p:cNvSpPr txBox="1">
            <a:spLocks noGrp="1"/>
          </p:cNvSpPr>
          <p:nvPr>
            <p:ph type="subTitle" idx="1"/>
          </p:nvPr>
        </p:nvSpPr>
        <p:spPr>
          <a:xfrm>
            <a:off x="720075" y="1229900"/>
            <a:ext cx="4149300" cy="26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9"/>
          <p:cNvSpPr txBox="1">
            <a:spLocks noGrp="1"/>
          </p:cNvSpPr>
          <p:nvPr>
            <p:ph type="subTitle" idx="2"/>
          </p:nvPr>
        </p:nvSpPr>
        <p:spPr>
          <a:xfrm>
            <a:off x="5258200" y="1229900"/>
            <a:ext cx="3165900" cy="33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9"/>
          <p:cNvSpPr/>
          <p:nvPr/>
        </p:nvSpPr>
        <p:spPr>
          <a:xfrm>
            <a:off x="-1066000" y="4148624"/>
            <a:ext cx="2318705" cy="2318705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9"/>
          <p:cNvSpPr/>
          <p:nvPr/>
        </p:nvSpPr>
        <p:spPr>
          <a:xfrm rot="-2700000">
            <a:off x="8725469" y="453535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9"/>
          <p:cNvSpPr/>
          <p:nvPr/>
        </p:nvSpPr>
        <p:spPr>
          <a:xfrm rot="5400000">
            <a:off x="7832400" y="51681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9"/>
          <p:cNvSpPr/>
          <p:nvPr/>
        </p:nvSpPr>
        <p:spPr>
          <a:xfrm rot="-2700000">
            <a:off x="248002" y="22297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9"/>
          <p:cNvSpPr/>
          <p:nvPr/>
        </p:nvSpPr>
        <p:spPr>
          <a:xfrm>
            <a:off x="3253647" y="48010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9"/>
          <p:cNvSpPr/>
          <p:nvPr/>
        </p:nvSpPr>
        <p:spPr>
          <a:xfrm>
            <a:off x="-1253581" y="-1661857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9"/>
          <p:cNvSpPr/>
          <p:nvPr/>
        </p:nvSpPr>
        <p:spPr>
          <a:xfrm rot="-2700000">
            <a:off x="2499794" y="1318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>
            <a:spLocks noGrp="1"/>
          </p:cNvSpPr>
          <p:nvPr>
            <p:ph type="title" hasCustomPrompt="1"/>
          </p:nvPr>
        </p:nvSpPr>
        <p:spPr>
          <a:xfrm>
            <a:off x="4811950" y="1776350"/>
            <a:ext cx="309540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1"/>
          </p:nvPr>
        </p:nvSpPr>
        <p:spPr>
          <a:xfrm>
            <a:off x="4811950" y="2864350"/>
            <a:ext cx="3095400" cy="50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-858351" y="1447575"/>
            <a:ext cx="2352930" cy="235293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1"/>
          <p:cNvSpPr/>
          <p:nvPr/>
        </p:nvSpPr>
        <p:spPr>
          <a:xfrm rot="10800000">
            <a:off x="5910838" y="424151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1"/>
          <p:cNvSpPr/>
          <p:nvPr/>
        </p:nvSpPr>
        <p:spPr>
          <a:xfrm>
            <a:off x="2888113" y="1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7996032" y="-1493732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1"/>
          <p:cNvSpPr/>
          <p:nvPr/>
        </p:nvSpPr>
        <p:spPr>
          <a:xfrm>
            <a:off x="-1137174" y="539498"/>
            <a:ext cx="1666787" cy="1666787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1"/>
          <p:cNvSpPr/>
          <p:nvPr/>
        </p:nvSpPr>
        <p:spPr>
          <a:xfrm rot="-2700000">
            <a:off x="1710897" y="21904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 rot="-2700000">
            <a:off x="3529106" y="475800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 rot="-2700000">
            <a:off x="8797665" y="26348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1"/>
          <p:cNvSpPr/>
          <p:nvPr/>
        </p:nvSpPr>
        <p:spPr>
          <a:xfrm rot="-2700000">
            <a:off x="313323" y="443828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 rot="-2700000">
            <a:off x="6748206" y="21906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8528260" y="46326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13"/>
          <p:cNvSpPr/>
          <p:nvPr/>
        </p:nvSpPr>
        <p:spPr>
          <a:xfrm rot="5400000">
            <a:off x="7838850" y="240056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-440256" y="473636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 rot="-2700000">
            <a:off x="6590706" y="2449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 rot="-2700000">
            <a:off x="380690" y="47085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 rot="-2700000">
            <a:off x="225873" y="37711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 rot="-2700000">
            <a:off x="5154256" y="48552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8680385" y="16892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1_1_1_1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-995441" y="4347584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570050" y="5"/>
            <a:ext cx="1320889" cy="571378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 rot="-2700000">
            <a:off x="348672" y="37608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 rot="-2700000">
            <a:off x="154531" y="7176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 rot="-2700000">
            <a:off x="5835865" y="21704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 rot="-2700000">
            <a:off x="8076748" y="48178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 rot="-2700000">
            <a:off x="3131756" y="48178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8756660" y="21211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8" name="Google Shape;198;p18"/>
          <p:cNvGrpSpPr/>
          <p:nvPr/>
        </p:nvGrpSpPr>
        <p:grpSpPr>
          <a:xfrm>
            <a:off x="8629633" y="4002066"/>
            <a:ext cx="901968" cy="901968"/>
            <a:chOff x="1350404" y="-3124999"/>
            <a:chExt cx="1570279" cy="1570279"/>
          </a:xfrm>
        </p:grpSpPr>
        <p:sp>
          <p:nvSpPr>
            <p:cNvPr id="199" name="Google Shape;199;p18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8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8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 txBox="1">
            <a:spLocks noGrp="1"/>
          </p:cNvSpPr>
          <p:nvPr>
            <p:ph type="subTitle" idx="1"/>
          </p:nvPr>
        </p:nvSpPr>
        <p:spPr>
          <a:xfrm>
            <a:off x="4938050" y="2727754"/>
            <a:ext cx="3346200" cy="86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9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2"/>
          <p:cNvSpPr txBox="1">
            <a:spLocks noGrp="1"/>
          </p:cNvSpPr>
          <p:nvPr>
            <p:ph type="subTitle" idx="1"/>
          </p:nvPr>
        </p:nvSpPr>
        <p:spPr>
          <a:xfrm>
            <a:off x="3780475" y="1545650"/>
            <a:ext cx="465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ubTitle" idx="2"/>
          </p:nvPr>
        </p:nvSpPr>
        <p:spPr>
          <a:xfrm>
            <a:off x="3780475" y="1212500"/>
            <a:ext cx="4650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39" name="Google Shape;239;p22"/>
          <p:cNvSpPr txBox="1">
            <a:spLocks noGrp="1"/>
          </p:cNvSpPr>
          <p:nvPr>
            <p:ph type="subTitle" idx="3"/>
          </p:nvPr>
        </p:nvSpPr>
        <p:spPr>
          <a:xfrm>
            <a:off x="3780475" y="2716013"/>
            <a:ext cx="465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2"/>
          <p:cNvSpPr txBox="1">
            <a:spLocks noGrp="1"/>
          </p:cNvSpPr>
          <p:nvPr>
            <p:ph type="subTitle" idx="4"/>
          </p:nvPr>
        </p:nvSpPr>
        <p:spPr>
          <a:xfrm>
            <a:off x="3780475" y="2382863"/>
            <a:ext cx="4650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1" name="Google Shape;241;p22"/>
          <p:cNvSpPr txBox="1">
            <a:spLocks noGrp="1"/>
          </p:cNvSpPr>
          <p:nvPr>
            <p:ph type="subTitle" idx="5"/>
          </p:nvPr>
        </p:nvSpPr>
        <p:spPr>
          <a:xfrm>
            <a:off x="3780475" y="3886375"/>
            <a:ext cx="465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22"/>
          <p:cNvSpPr txBox="1">
            <a:spLocks noGrp="1"/>
          </p:cNvSpPr>
          <p:nvPr>
            <p:ph type="subTitle" idx="6"/>
          </p:nvPr>
        </p:nvSpPr>
        <p:spPr>
          <a:xfrm>
            <a:off x="3780475" y="3553225"/>
            <a:ext cx="46503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-1159675" y="3421300"/>
            <a:ext cx="2592501" cy="2592501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4591750" y="-412263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 rot="-2700000">
            <a:off x="8806072" y="412724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 rot="-2700000">
            <a:off x="8737815" y="5679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 rot="-2700000">
            <a:off x="2888948" y="474213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 rot="-2700000">
            <a:off x="180556" y="2793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346285" y="22530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22"/>
          <p:cNvGrpSpPr/>
          <p:nvPr/>
        </p:nvGrpSpPr>
        <p:grpSpPr>
          <a:xfrm>
            <a:off x="4121021" y="-456934"/>
            <a:ext cx="901968" cy="901968"/>
            <a:chOff x="1350404" y="-3124999"/>
            <a:chExt cx="1570279" cy="1570279"/>
          </a:xfrm>
        </p:grpSpPr>
        <p:sp>
          <p:nvSpPr>
            <p:cNvPr id="251" name="Google Shape;251;p22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2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2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2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4"/>
          <p:cNvSpPr txBox="1">
            <a:spLocks noGrp="1"/>
          </p:cNvSpPr>
          <p:nvPr>
            <p:ph type="subTitle" idx="1"/>
          </p:nvPr>
        </p:nvSpPr>
        <p:spPr>
          <a:xfrm>
            <a:off x="719975" y="154735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24"/>
          <p:cNvSpPr txBox="1">
            <a:spLocks noGrp="1"/>
          </p:cNvSpPr>
          <p:nvPr>
            <p:ph type="subTitle" idx="2"/>
          </p:nvPr>
        </p:nvSpPr>
        <p:spPr>
          <a:xfrm>
            <a:off x="719975" y="120850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5" name="Google Shape;285;p24"/>
          <p:cNvSpPr txBox="1">
            <a:spLocks noGrp="1"/>
          </p:cNvSpPr>
          <p:nvPr>
            <p:ph type="subTitle" idx="3"/>
          </p:nvPr>
        </p:nvSpPr>
        <p:spPr>
          <a:xfrm>
            <a:off x="719975" y="2715875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24"/>
          <p:cNvSpPr txBox="1">
            <a:spLocks noGrp="1"/>
          </p:cNvSpPr>
          <p:nvPr>
            <p:ph type="subTitle" idx="4"/>
          </p:nvPr>
        </p:nvSpPr>
        <p:spPr>
          <a:xfrm>
            <a:off x="719975" y="2377025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7" name="Google Shape;287;p24"/>
          <p:cNvSpPr txBox="1">
            <a:spLocks noGrp="1"/>
          </p:cNvSpPr>
          <p:nvPr>
            <p:ph type="subTitle" idx="5"/>
          </p:nvPr>
        </p:nvSpPr>
        <p:spPr>
          <a:xfrm>
            <a:off x="719975" y="388440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24"/>
          <p:cNvSpPr txBox="1">
            <a:spLocks noGrp="1"/>
          </p:cNvSpPr>
          <p:nvPr>
            <p:ph type="subTitle" idx="6"/>
          </p:nvPr>
        </p:nvSpPr>
        <p:spPr>
          <a:xfrm>
            <a:off x="719975" y="354555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89" name="Google Shape;289;p24"/>
          <p:cNvSpPr txBox="1">
            <a:spLocks noGrp="1"/>
          </p:cNvSpPr>
          <p:nvPr>
            <p:ph type="subTitle" idx="7"/>
          </p:nvPr>
        </p:nvSpPr>
        <p:spPr>
          <a:xfrm>
            <a:off x="4699375" y="154735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0" name="Google Shape;290;p24"/>
          <p:cNvSpPr txBox="1">
            <a:spLocks noGrp="1"/>
          </p:cNvSpPr>
          <p:nvPr>
            <p:ph type="subTitle" idx="8"/>
          </p:nvPr>
        </p:nvSpPr>
        <p:spPr>
          <a:xfrm>
            <a:off x="4699375" y="120850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1" name="Google Shape;291;p24"/>
          <p:cNvSpPr txBox="1">
            <a:spLocks noGrp="1"/>
          </p:cNvSpPr>
          <p:nvPr>
            <p:ph type="subTitle" idx="9"/>
          </p:nvPr>
        </p:nvSpPr>
        <p:spPr>
          <a:xfrm>
            <a:off x="4699375" y="2715875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24"/>
          <p:cNvSpPr txBox="1">
            <a:spLocks noGrp="1"/>
          </p:cNvSpPr>
          <p:nvPr>
            <p:ph type="subTitle" idx="13"/>
          </p:nvPr>
        </p:nvSpPr>
        <p:spPr>
          <a:xfrm>
            <a:off x="4699375" y="2377025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24"/>
          <p:cNvSpPr txBox="1">
            <a:spLocks noGrp="1"/>
          </p:cNvSpPr>
          <p:nvPr>
            <p:ph type="subTitle" idx="14"/>
          </p:nvPr>
        </p:nvSpPr>
        <p:spPr>
          <a:xfrm>
            <a:off x="4699375" y="3884400"/>
            <a:ext cx="373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24"/>
          <p:cNvSpPr txBox="1">
            <a:spLocks noGrp="1"/>
          </p:cNvSpPr>
          <p:nvPr>
            <p:ph type="subTitle" idx="15"/>
          </p:nvPr>
        </p:nvSpPr>
        <p:spPr>
          <a:xfrm>
            <a:off x="4699375" y="3545550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rgbClr val="17175A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24"/>
          <p:cNvSpPr/>
          <p:nvPr/>
        </p:nvSpPr>
        <p:spPr>
          <a:xfrm rot="-5400000">
            <a:off x="-889950" y="3951362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8093184" y="-996666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/>
          <p:nvPr/>
        </p:nvSpPr>
        <p:spPr>
          <a:xfrm rot="-2700000">
            <a:off x="8833547" y="448552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4"/>
          <p:cNvSpPr/>
          <p:nvPr/>
        </p:nvSpPr>
        <p:spPr>
          <a:xfrm rot="-2700000">
            <a:off x="644581" y="2270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/>
          <p:nvPr/>
        </p:nvSpPr>
        <p:spPr>
          <a:xfrm rot="-2700000">
            <a:off x="4914890" y="4816304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4"/>
          <p:cNvSpPr/>
          <p:nvPr/>
        </p:nvSpPr>
        <p:spPr>
          <a:xfrm rot="-2700000">
            <a:off x="240098" y="33170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4"/>
          <p:cNvSpPr/>
          <p:nvPr/>
        </p:nvSpPr>
        <p:spPr>
          <a:xfrm rot="-2700000">
            <a:off x="8639406" y="21484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/>
          <p:nvPr/>
        </p:nvSpPr>
        <p:spPr>
          <a:xfrm>
            <a:off x="6608360" y="1986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5"/>
          <p:cNvSpPr txBox="1">
            <a:spLocks noGrp="1"/>
          </p:cNvSpPr>
          <p:nvPr>
            <p:ph type="title"/>
          </p:nvPr>
        </p:nvSpPr>
        <p:spPr>
          <a:xfrm>
            <a:off x="2347950" y="1147088"/>
            <a:ext cx="4448100" cy="11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1"/>
          </p:nvPr>
        </p:nvSpPr>
        <p:spPr>
          <a:xfrm>
            <a:off x="2347900" y="2503800"/>
            <a:ext cx="4448100" cy="11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6" name="Google Shape;306;p25"/>
          <p:cNvSpPr/>
          <p:nvPr/>
        </p:nvSpPr>
        <p:spPr>
          <a:xfrm>
            <a:off x="-1019876" y="1643250"/>
            <a:ext cx="2293037" cy="229303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7311550" y="-1003500"/>
            <a:ext cx="2455603" cy="2455603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 rot="10800000">
            <a:off x="7044900" y="4330787"/>
            <a:ext cx="2085177" cy="901987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-691818" y="-1638807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8454632" y="3783118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 rot="-2700000">
            <a:off x="1860872" y="23177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 rot="-2700000">
            <a:off x="6009081" y="155650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 rot="-2700000">
            <a:off x="6676290" y="471312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 rot="-2700000">
            <a:off x="2182223" y="48111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 rot="-2700000">
            <a:off x="8738506" y="20268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401822" y="454415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2099100" y="3774575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sz="1000" u="sng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6"/>
          <p:cNvSpPr/>
          <p:nvPr/>
        </p:nvSpPr>
        <p:spPr>
          <a:xfrm>
            <a:off x="-753977" y="3910975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26"/>
          <p:cNvGrpSpPr/>
          <p:nvPr/>
        </p:nvGrpSpPr>
        <p:grpSpPr>
          <a:xfrm>
            <a:off x="295975" y="4188655"/>
            <a:ext cx="1694813" cy="830678"/>
            <a:chOff x="-215300" y="3851305"/>
            <a:chExt cx="1694813" cy="830678"/>
          </a:xfrm>
        </p:grpSpPr>
        <p:sp>
          <p:nvSpPr>
            <p:cNvPr id="321" name="Google Shape;321;p26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2" name="Google Shape;322;p26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323" name="Google Shape;323;p26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6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6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" name="Google Shape;326;p26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6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6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6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6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6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6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6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6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6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6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6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6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6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4" name="Google Shape;344;p26"/>
          <p:cNvSpPr/>
          <p:nvPr/>
        </p:nvSpPr>
        <p:spPr>
          <a:xfrm rot="-2700000">
            <a:off x="7679247" y="18329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6"/>
          <p:cNvSpPr/>
          <p:nvPr/>
        </p:nvSpPr>
        <p:spPr>
          <a:xfrm rot="-2700000">
            <a:off x="422294" y="56792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 rot="-2700000">
            <a:off x="8760102" y="35938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/>
          <p:nvPr/>
        </p:nvSpPr>
        <p:spPr>
          <a:xfrm rot="-2700000">
            <a:off x="228123" y="30408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 rot="-2700000">
            <a:off x="4242256" y="4746111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3199535" y="1921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0" name="Google Shape;350;p26"/>
          <p:cNvGrpSpPr/>
          <p:nvPr/>
        </p:nvGrpSpPr>
        <p:grpSpPr>
          <a:xfrm>
            <a:off x="8430783" y="1741366"/>
            <a:ext cx="901968" cy="901968"/>
            <a:chOff x="1350404" y="-3124999"/>
            <a:chExt cx="1570279" cy="1570279"/>
          </a:xfrm>
        </p:grpSpPr>
        <p:sp>
          <p:nvSpPr>
            <p:cNvPr id="351" name="Google Shape;351;p26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26"/>
          <p:cNvSpPr/>
          <p:nvPr/>
        </p:nvSpPr>
        <p:spPr>
          <a:xfrm>
            <a:off x="4407973" y="-1942300"/>
            <a:ext cx="2489827" cy="2489827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8146410" y="4754905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/>
          <p:nvPr/>
        </p:nvSpPr>
        <p:spPr>
          <a:xfrm>
            <a:off x="7128375" y="0"/>
            <a:ext cx="2517166" cy="1088852"/>
          </a:xfrm>
          <a:custGeom>
            <a:avLst/>
            <a:gdLst/>
            <a:ahLst/>
            <a:cxnLst/>
            <a:rect l="l" t="t" r="r" b="b"/>
            <a:pathLst>
              <a:path w="3322991" h="1437429" extrusionOk="0">
                <a:moveTo>
                  <a:pt x="3322992" y="0"/>
                </a:moveTo>
                <a:cubicBezTo>
                  <a:pt x="3285309" y="100131"/>
                  <a:pt x="3226156" y="194049"/>
                  <a:pt x="3145559" y="274645"/>
                </a:cubicBezTo>
                <a:lnTo>
                  <a:pt x="2209934" y="1210270"/>
                </a:lnTo>
                <a:cubicBezTo>
                  <a:pt x="1907055" y="1513149"/>
                  <a:pt x="1415965" y="1513149"/>
                  <a:pt x="1113058" y="1210270"/>
                </a:cubicBezTo>
                <a:lnTo>
                  <a:pt x="177432" y="274645"/>
                </a:lnTo>
                <a:cubicBezTo>
                  <a:pt x="96837" y="194049"/>
                  <a:pt x="37683" y="100131"/>
                  <a:pt x="0" y="0"/>
                </a:cubicBezTo>
                <a:lnTo>
                  <a:pt x="3322992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9" name="Google Shape;359;p27"/>
          <p:cNvGrpSpPr/>
          <p:nvPr/>
        </p:nvGrpSpPr>
        <p:grpSpPr>
          <a:xfrm>
            <a:off x="7650716" y="539506"/>
            <a:ext cx="1022136" cy="829949"/>
            <a:chOff x="7329141" y="362469"/>
            <a:chExt cx="1022136" cy="829949"/>
          </a:xfrm>
        </p:grpSpPr>
        <p:sp>
          <p:nvSpPr>
            <p:cNvPr id="360" name="Google Shape;360;p27"/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7"/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2" name="Google Shape;362;p27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363" name="Google Shape;363;p27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7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5" name="Google Shape;365;p27"/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7"/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7"/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7"/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7"/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7"/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7"/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7"/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27"/>
          <p:cNvSpPr/>
          <p:nvPr/>
        </p:nvSpPr>
        <p:spPr>
          <a:xfrm>
            <a:off x="6005759" y="4604009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7"/>
          <p:cNvSpPr/>
          <p:nvPr/>
        </p:nvSpPr>
        <p:spPr>
          <a:xfrm rot="-2700000">
            <a:off x="547497" y="240572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7CE1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7"/>
          <p:cNvSpPr/>
          <p:nvPr/>
        </p:nvSpPr>
        <p:spPr>
          <a:xfrm rot="-2700000">
            <a:off x="3740631" y="4706475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BD0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7"/>
          <p:cNvSpPr/>
          <p:nvPr/>
        </p:nvSpPr>
        <p:spPr>
          <a:xfrm rot="-2700000">
            <a:off x="4869215" y="240579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A9D0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7"/>
          <p:cNvSpPr/>
          <p:nvPr/>
        </p:nvSpPr>
        <p:spPr>
          <a:xfrm rot="-2700000">
            <a:off x="249023" y="4193007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FC81F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7"/>
          <p:cNvSpPr/>
          <p:nvPr/>
        </p:nvSpPr>
        <p:spPr>
          <a:xfrm rot="-2700000">
            <a:off x="8701281" y="2057586"/>
            <a:ext cx="137292" cy="137292"/>
          </a:xfrm>
          <a:custGeom>
            <a:avLst/>
            <a:gdLst/>
            <a:ahLst/>
            <a:cxnLst/>
            <a:rect l="l" t="t" r="r" b="b"/>
            <a:pathLst>
              <a:path w="171066" h="171066" extrusionOk="0">
                <a:moveTo>
                  <a:pt x="0" y="0"/>
                </a:moveTo>
                <a:lnTo>
                  <a:pt x="171066" y="0"/>
                </a:lnTo>
                <a:lnTo>
                  <a:pt x="171066" y="171066"/>
                </a:lnTo>
                <a:lnTo>
                  <a:pt x="0" y="171066"/>
                </a:lnTo>
                <a:close/>
              </a:path>
            </a:pathLst>
          </a:custGeom>
          <a:solidFill>
            <a:srgbClr val="6E6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7"/>
          <p:cNvSpPr/>
          <p:nvPr/>
        </p:nvSpPr>
        <p:spPr>
          <a:xfrm>
            <a:off x="8370935" y="471528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-141118" y="4603993"/>
            <a:ext cx="2306972" cy="2306972"/>
          </a:xfrm>
          <a:custGeom>
            <a:avLst/>
            <a:gdLst/>
            <a:ahLst/>
            <a:cxnLst/>
            <a:rect l="l" t="t" r="r" b="b"/>
            <a:pathLst>
              <a:path w="2306972" h="2306972" extrusionOk="0">
                <a:moveTo>
                  <a:pt x="2306973" y="1153486"/>
                </a:moveTo>
                <a:cubicBezTo>
                  <a:pt x="2306973" y="1790539"/>
                  <a:pt x="1790539" y="2306973"/>
                  <a:pt x="1153486" y="2306973"/>
                </a:cubicBezTo>
                <a:cubicBezTo>
                  <a:pt x="516433" y="2306973"/>
                  <a:pt x="0" y="1790539"/>
                  <a:pt x="0" y="1153486"/>
                </a:cubicBezTo>
                <a:cubicBezTo>
                  <a:pt x="0" y="516434"/>
                  <a:pt x="516433" y="0"/>
                  <a:pt x="1153486" y="0"/>
                </a:cubicBezTo>
                <a:cubicBezTo>
                  <a:pt x="1790539" y="0"/>
                  <a:pt x="2306973" y="516433"/>
                  <a:pt x="2306973" y="1153486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-1383791" y="1516059"/>
            <a:ext cx="2087690" cy="2087690"/>
          </a:xfrm>
          <a:custGeom>
            <a:avLst/>
            <a:gdLst/>
            <a:ahLst/>
            <a:cxnLst/>
            <a:rect l="l" t="t" r="r" b="b"/>
            <a:pathLst>
              <a:path w="3422443" h="3422443" extrusionOk="0">
                <a:moveTo>
                  <a:pt x="2259660" y="227159"/>
                </a:moveTo>
                <a:lnTo>
                  <a:pt x="3195285" y="1162784"/>
                </a:lnTo>
                <a:cubicBezTo>
                  <a:pt x="3498163" y="1465663"/>
                  <a:pt x="3498163" y="1956752"/>
                  <a:pt x="3195285" y="2259660"/>
                </a:cubicBezTo>
                <a:lnTo>
                  <a:pt x="2259660" y="3195285"/>
                </a:lnTo>
                <a:cubicBezTo>
                  <a:pt x="1956781" y="3498164"/>
                  <a:pt x="1465692" y="3498164"/>
                  <a:pt x="1162784" y="3195285"/>
                </a:cubicBezTo>
                <a:lnTo>
                  <a:pt x="227159" y="2259660"/>
                </a:lnTo>
                <a:cubicBezTo>
                  <a:pt x="-75720" y="1956781"/>
                  <a:pt x="-75720" y="1465691"/>
                  <a:pt x="227159" y="1162784"/>
                </a:cubicBezTo>
                <a:lnTo>
                  <a:pt x="1162784" y="227159"/>
                </a:lnTo>
                <a:cubicBezTo>
                  <a:pt x="1465663" y="-75720"/>
                  <a:pt x="1956752" y="-75720"/>
                  <a:pt x="2259660" y="22715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1442285" y="183230"/>
            <a:ext cx="119689" cy="119689"/>
          </a:xfrm>
          <a:custGeom>
            <a:avLst/>
            <a:gdLst/>
            <a:ahLst/>
            <a:cxnLst/>
            <a:rect l="l" t="t" r="r" b="b"/>
            <a:pathLst>
              <a:path w="194616" h="194616" extrusionOk="0">
                <a:moveTo>
                  <a:pt x="194616" y="97308"/>
                </a:moveTo>
                <a:cubicBezTo>
                  <a:pt x="194616" y="151050"/>
                  <a:pt x="151050" y="194616"/>
                  <a:pt x="97307" y="194616"/>
                </a:cubicBezTo>
                <a:cubicBezTo>
                  <a:pt x="43566" y="194616"/>
                  <a:pt x="-1" y="151050"/>
                  <a:pt x="-1" y="97308"/>
                </a:cubicBezTo>
                <a:cubicBezTo>
                  <a:pt x="-1" y="43566"/>
                  <a:pt x="43565" y="0"/>
                  <a:pt x="97307" y="0"/>
                </a:cubicBezTo>
                <a:cubicBezTo>
                  <a:pt x="151049" y="0"/>
                  <a:pt x="194616" y="43566"/>
                  <a:pt x="194616" y="97308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assion One"/>
              <a:buNone/>
              <a:defRPr sz="3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assion One"/>
              <a:buNone/>
              <a:defRPr sz="35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■"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5" r:id="rId6"/>
    <p:sldLayoutId id="2147483657" r:id="rId7"/>
    <p:sldLayoutId id="2147483658" r:id="rId8"/>
    <p:sldLayoutId id="2147483659" r:id="rId9"/>
    <p:sldLayoutId id="2147483664" r:id="rId10"/>
    <p:sldLayoutId id="2147483665" r:id="rId11"/>
    <p:sldLayoutId id="2147483668" r:id="rId12"/>
    <p:sldLayoutId id="2147483670" r:id="rId13"/>
    <p:sldLayoutId id="2147483671" r:id="rId14"/>
    <p:sldLayoutId id="2147483672" r:id="rId15"/>
    <p:sldLayoutId id="214748367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orient="horz" pos="2900">
          <p15:clr>
            <a:srgbClr val="EA4335"/>
          </p15:clr>
        </p15:guide>
        <p15:guide id="3" pos="449">
          <p15:clr>
            <a:srgbClr val="EA4335"/>
          </p15:clr>
        </p15:guide>
        <p15:guide id="4" pos="531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lens.ru/2l99eebf6sse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datalens.ru/2l99eebf6ssen" TargetMode="Externa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1"/>
          <p:cNvSpPr txBox="1">
            <a:spLocks noGrp="1"/>
          </p:cNvSpPr>
          <p:nvPr>
            <p:ph type="ctrTitle"/>
          </p:nvPr>
        </p:nvSpPr>
        <p:spPr>
          <a:xfrm>
            <a:off x="1814850" y="1577788"/>
            <a:ext cx="5514300" cy="17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Delivery Dron</a:t>
            </a:r>
            <a:endParaRPr dirty="0"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1"/>
          </p:nvPr>
        </p:nvSpPr>
        <p:spPr>
          <a:xfrm>
            <a:off x="2430150" y="3547499"/>
            <a:ext cx="4283700" cy="74031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Ердякова</a:t>
            </a:r>
            <a:r>
              <a:rPr lang="ru-RU" b="1" dirty="0"/>
              <a:t> Мария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Козлова Полина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Скорик Елизавета </a:t>
            </a:r>
            <a:endParaRPr b="1" dirty="0"/>
          </a:p>
        </p:txBody>
      </p:sp>
      <p:grpSp>
        <p:nvGrpSpPr>
          <p:cNvPr id="396" name="Google Shape;396;p31"/>
          <p:cNvGrpSpPr/>
          <p:nvPr/>
        </p:nvGrpSpPr>
        <p:grpSpPr>
          <a:xfrm>
            <a:off x="8118467" y="4032000"/>
            <a:ext cx="1098804" cy="732535"/>
            <a:chOff x="8118467" y="4032000"/>
            <a:chExt cx="1098804" cy="732535"/>
          </a:xfrm>
        </p:grpSpPr>
        <p:sp>
          <p:nvSpPr>
            <p:cNvPr id="397" name="Google Shape;397;p31"/>
            <p:cNvSpPr/>
            <p:nvPr/>
          </p:nvSpPr>
          <p:spPr>
            <a:xfrm>
              <a:off x="8118467" y="4032000"/>
              <a:ext cx="183134" cy="183133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31"/>
            <p:cNvSpPr/>
            <p:nvPr/>
          </p:nvSpPr>
          <p:spPr>
            <a:xfrm>
              <a:off x="8118467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31"/>
            <p:cNvSpPr/>
            <p:nvPr/>
          </p:nvSpPr>
          <p:spPr>
            <a:xfrm>
              <a:off x="8118467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31"/>
            <p:cNvSpPr/>
            <p:nvPr/>
          </p:nvSpPr>
          <p:spPr>
            <a:xfrm>
              <a:off x="8118467" y="4581402"/>
              <a:ext cx="183134" cy="183079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31"/>
            <p:cNvSpPr/>
            <p:nvPr/>
          </p:nvSpPr>
          <p:spPr>
            <a:xfrm>
              <a:off x="8301601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8301601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31"/>
            <p:cNvSpPr/>
            <p:nvPr/>
          </p:nvSpPr>
          <p:spPr>
            <a:xfrm>
              <a:off x="8301601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31"/>
            <p:cNvSpPr/>
            <p:nvPr/>
          </p:nvSpPr>
          <p:spPr>
            <a:xfrm>
              <a:off x="8301601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31"/>
            <p:cNvSpPr/>
            <p:nvPr/>
          </p:nvSpPr>
          <p:spPr>
            <a:xfrm>
              <a:off x="8484735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8484735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8484735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8484735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8667869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8667869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8667869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8667869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8851003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8851003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8851003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8851003" y="4581402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9034137" y="4032000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9034137" y="4215134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9034137" y="4398268"/>
              <a:ext cx="183133" cy="183133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9034082" y="4581402"/>
              <a:ext cx="183133" cy="183079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8273696" y="4184110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8368300" y="427510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8588258" y="4076429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8456830" y="4433997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8726908" y="4658168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8518057" y="437036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8170393" y="4076429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8456830" y="429354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8368300" y="4378844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8202566" y="4461903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8174660" y="461713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8273696" y="4321447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8919671" y="4247252"/>
              <a:ext cx="55810" cy="55810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31"/>
          <p:cNvGrpSpPr/>
          <p:nvPr/>
        </p:nvGrpSpPr>
        <p:grpSpPr>
          <a:xfrm>
            <a:off x="1062846" y="290916"/>
            <a:ext cx="901968" cy="901968"/>
            <a:chOff x="1350404" y="-3124999"/>
            <a:chExt cx="1570279" cy="1570279"/>
          </a:xfrm>
        </p:grpSpPr>
        <p:sp>
          <p:nvSpPr>
            <p:cNvPr id="435" name="Google Shape;435;p31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9" name="Google Shape;439;p31"/>
          <p:cNvSpPr txBox="1">
            <a:spLocks noGrp="1"/>
          </p:cNvSpPr>
          <p:nvPr>
            <p:ph type="ctrTitle" idx="2"/>
          </p:nvPr>
        </p:nvSpPr>
        <p:spPr>
          <a:xfrm>
            <a:off x="6938575" y="552675"/>
            <a:ext cx="14922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Team 2</a:t>
            </a:r>
            <a:endParaRPr dirty="0"/>
          </a:p>
        </p:txBody>
      </p:sp>
      <p:grpSp>
        <p:nvGrpSpPr>
          <p:cNvPr id="440" name="Google Shape;440;p31"/>
          <p:cNvGrpSpPr/>
          <p:nvPr/>
        </p:nvGrpSpPr>
        <p:grpSpPr>
          <a:xfrm>
            <a:off x="4060641" y="362469"/>
            <a:ext cx="1022706" cy="830413"/>
            <a:chOff x="7329141" y="362469"/>
            <a:chExt cx="1022706" cy="830413"/>
          </a:xfrm>
        </p:grpSpPr>
        <p:sp>
          <p:nvSpPr>
            <p:cNvPr id="441" name="Google Shape;441;p31"/>
            <p:cNvSpPr/>
            <p:nvPr/>
          </p:nvSpPr>
          <p:spPr>
            <a:xfrm>
              <a:off x="7329141" y="362469"/>
              <a:ext cx="1022706" cy="830413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7479397" y="507863"/>
              <a:ext cx="275878" cy="490191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3" name="Google Shape;443;p31"/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444" name="Google Shape;444;p31"/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31"/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6" name="Google Shape;446;p31"/>
            <p:cNvSpPr/>
            <p:nvPr/>
          </p:nvSpPr>
          <p:spPr>
            <a:xfrm>
              <a:off x="7755275" y="507863"/>
              <a:ext cx="222402" cy="439126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7918481" y="577354"/>
              <a:ext cx="207735" cy="40730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7986379" y="855683"/>
              <a:ext cx="207735" cy="40730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8078706" y="664248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8078706" y="691415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8078706" y="718541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8078706" y="946989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8078706" y="974156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8078706" y="1001323"/>
              <a:ext cx="133057" cy="408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5" name="Google Shape;455;p31"/>
          <p:cNvGrpSpPr/>
          <p:nvPr/>
        </p:nvGrpSpPr>
        <p:grpSpPr>
          <a:xfrm>
            <a:off x="-215300" y="3851305"/>
            <a:ext cx="1694813" cy="830678"/>
            <a:chOff x="-215300" y="3851305"/>
            <a:chExt cx="1694813" cy="830678"/>
          </a:xfrm>
        </p:grpSpPr>
        <p:sp>
          <p:nvSpPr>
            <p:cNvPr id="456" name="Google Shape;456;p31"/>
            <p:cNvSpPr/>
            <p:nvPr/>
          </p:nvSpPr>
          <p:spPr>
            <a:xfrm>
              <a:off x="861887" y="3947362"/>
              <a:ext cx="215268" cy="422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7" name="Google Shape;457;p31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458" name="Google Shape;458;p31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31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31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1" name="Google Shape;461;p31"/>
            <p:cNvSpPr/>
            <p:nvPr/>
          </p:nvSpPr>
          <p:spPr>
            <a:xfrm>
              <a:off x="-85801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294020" y="4210340"/>
              <a:ext cx="105708" cy="471388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483972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1053745" y="4472133"/>
              <a:ext cx="105708" cy="209553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1243698" y="4070172"/>
              <a:ext cx="105708" cy="61151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-32968" y="4087783"/>
              <a:ext cx="1329498" cy="42016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-61417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128536" y="4354614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318446" y="418938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508356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698309" y="4059335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893172" y="4336368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1078172" y="4457909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1268082" y="4046253"/>
              <a:ext cx="56896" cy="56896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2"/>
          <p:cNvSpPr txBox="1">
            <a:spLocks noGrp="1"/>
          </p:cNvSpPr>
          <p:nvPr>
            <p:ph type="title"/>
          </p:nvPr>
        </p:nvSpPr>
        <p:spPr>
          <a:xfrm>
            <a:off x="720000" y="20688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Техническое задание</a:t>
            </a:r>
            <a:endParaRPr b="1" dirty="0"/>
          </a:p>
        </p:txBody>
      </p:sp>
      <p:sp>
        <p:nvSpPr>
          <p:cNvPr id="484" name="Google Shape;484;p32"/>
          <p:cNvSpPr txBox="1">
            <a:spLocks noGrp="1"/>
          </p:cNvSpPr>
          <p:nvPr>
            <p:ph type="body" idx="1"/>
          </p:nvPr>
        </p:nvSpPr>
        <p:spPr>
          <a:xfrm>
            <a:off x="289783" y="565981"/>
            <a:ext cx="8658835" cy="1238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ru-RU" sz="1200" dirty="0">
                <a:cs typeface="Arial"/>
                <a:sym typeface="Arial"/>
              </a:rPr>
              <a:t>Вы работаете продуктовым аналитиком в иностранной компании “Delivery </a:t>
            </a:r>
            <a:r>
              <a:rPr lang="ru-RU" sz="1200" dirty="0" err="1">
                <a:cs typeface="Arial"/>
                <a:sym typeface="Arial"/>
              </a:rPr>
              <a:t>Dron</a:t>
            </a:r>
            <a:r>
              <a:rPr lang="ru-RU" sz="1200" dirty="0">
                <a:cs typeface="Arial"/>
                <a:sym typeface="Arial"/>
              </a:rPr>
              <a:t>”, которая занимается продажей дронов доставщиков через интернет. </a:t>
            </a:r>
            <a:r>
              <a:rPr lang="ru-RU" sz="1200" dirty="0">
                <a:cs typeface="Arial"/>
              </a:rPr>
              <a:t>Вам необходимо проанализировать имеющиеся данные и ответить на главный вопрос заказчика: в какой регион и какой рекламный канал инвестировать больше денег на привлечение клиентов в следующем году и обосновать свои предложения.</a:t>
            </a:r>
            <a:br>
              <a:rPr lang="ru-RU" sz="1200" dirty="0">
                <a:cs typeface="Arial"/>
              </a:rPr>
            </a:br>
            <a:endParaRPr lang="en-US" sz="1200" dirty="0">
              <a:cs typeface="Arial"/>
            </a:endParaRPr>
          </a:p>
        </p:txBody>
      </p:sp>
      <p:graphicFrame>
        <p:nvGraphicFramePr>
          <p:cNvPr id="485" name="Google Shape;485;p32"/>
          <p:cNvGraphicFramePr/>
          <p:nvPr>
            <p:extLst>
              <p:ext uri="{D42A27DB-BD31-4B8C-83A1-F6EECF244321}">
                <p14:modId xmlns:p14="http://schemas.microsoft.com/office/powerpoint/2010/main" val="2302349222"/>
              </p:ext>
            </p:extLst>
          </p:nvPr>
        </p:nvGraphicFramePr>
        <p:xfrm>
          <a:off x="720000" y="2107288"/>
          <a:ext cx="7704000" cy="2360500"/>
        </p:xfrm>
        <a:graphic>
          <a:graphicData uri="http://schemas.openxmlformats.org/drawingml/2006/table">
            <a:tbl>
              <a:tblPr>
                <a:noFill/>
                <a:tableStyleId>{AAD4FF98-227F-452A-84B2-AA045A303433}</a:tableStyleId>
              </a:tblPr>
              <a:tblGrid>
                <a:gridCol w="23726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1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u="sng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Предобработка данных</a:t>
                      </a:r>
                      <a:endParaRPr sz="1000" b="1" u="sng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Проверили данные на пропуски, дубликаты и выбросы с помощью библиотеки </a:t>
                      </a: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pandas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u="sng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Аналитический и графический анализ данных</a:t>
                      </a:r>
                      <a:endParaRPr sz="1000" b="1" u="sng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Разработали функции для расчёта долей продаж и пользователей, а также построили графики сезонности и распределения покупок по типу оплаты с использованием </a:t>
                      </a:r>
                      <a:r>
                        <a:rPr lang="ru-RU" sz="1000" dirty="0" err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matplotlib</a:t>
                      </a:r>
                      <a:endParaRPr sz="10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u="sng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Проведение расчётов</a:t>
                      </a:r>
                      <a:endParaRPr sz="1000" b="1" u="sng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Проведённый анализ распределения данных по регионам, устройствам и каналам привлечения позволил выявить ключевые источники трафика и доходов</a:t>
                      </a:r>
                      <a:endParaRPr sz="10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u="sng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Проверка гипотез</a:t>
                      </a:r>
                      <a:endParaRPr sz="1000" b="1" u="sng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Предложенные гипотезы были статистически проверены, что позволило подтвердить или опровергнуть значимость различий между группами</a:t>
                      </a:r>
                      <a:endParaRPr sz="1000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u="sng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Регрессионный анализ</a:t>
                      </a:r>
                      <a:endParaRPr sz="1000" b="1" u="sng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Построена модель, предсказывающая количество покупателей и доход за неделю в зависимости от рекламного канала и региона с помощью </a:t>
                      </a:r>
                      <a:r>
                        <a:rPr lang="en-US" sz="1000" b="0" i="0" u="none" strike="noStrike" cap="none" dirty="0" err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LinearRegression</a:t>
                      </a:r>
                      <a:endParaRPr lang="en-US" sz="10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Arial"/>
                        <a:sym typeface="Arial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000" b="1" u="sng" dirty="0" err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Дашборд</a:t>
                      </a:r>
                      <a:endParaRPr sz="1000" b="1" u="sng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ru-RU" sz="1000" b="0" i="0" u="none" strike="noStrike" cap="none" dirty="0" err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Inter"/>
                          <a:hlinkClick r:id="rId3"/>
                        </a:rPr>
                        <a:t>Дашборд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Inter"/>
                        </a:rPr>
                        <a:t> выполнен в 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Inter"/>
                        </a:rPr>
                        <a:t>Yandex </a:t>
                      </a:r>
                      <a:r>
                        <a:rPr lang="en-US" sz="1000" b="0" i="0" u="none" strike="noStrike" cap="none" dirty="0" err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Inter"/>
                        </a:rPr>
                        <a:t>DataLens</a:t>
                      </a:r>
                      <a:r>
                        <a:rPr lang="en-US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Inter"/>
                        </a:rPr>
                        <a:t>. 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Inter"/>
                        </a:rPr>
                        <a:t>Включает в себя </a:t>
                      </a:r>
                      <a:r>
                        <a:rPr lang="ru-RU" sz="10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основные метрики работы интернет магазина</a:t>
                      </a:r>
                      <a:endParaRPr sz="10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Arial"/>
                        <a:sym typeface="Inter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595959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488" name="Google Shape;488;p32"/>
          <p:cNvGrpSpPr/>
          <p:nvPr/>
        </p:nvGrpSpPr>
        <p:grpSpPr>
          <a:xfrm>
            <a:off x="8105349" y="4148721"/>
            <a:ext cx="1099092" cy="1238854"/>
            <a:chOff x="2594603" y="2081903"/>
            <a:chExt cx="871327" cy="982126"/>
          </a:xfrm>
        </p:grpSpPr>
        <p:sp>
          <p:nvSpPr>
            <p:cNvPr id="489" name="Google Shape;489;p32"/>
            <p:cNvSpPr/>
            <p:nvPr/>
          </p:nvSpPr>
          <p:spPr>
            <a:xfrm>
              <a:off x="3157347" y="2358046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32"/>
            <p:cNvSpPr/>
            <p:nvPr/>
          </p:nvSpPr>
          <p:spPr>
            <a:xfrm>
              <a:off x="3076913" y="2815020"/>
              <a:ext cx="186375" cy="3654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32"/>
            <p:cNvSpPr/>
            <p:nvPr/>
          </p:nvSpPr>
          <p:spPr>
            <a:xfrm>
              <a:off x="3157347" y="2430693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32"/>
            <p:cNvSpPr/>
            <p:nvPr/>
          </p:nvSpPr>
          <p:spPr>
            <a:xfrm>
              <a:off x="3157347" y="2455005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2"/>
            <p:cNvSpPr/>
            <p:nvPr/>
          </p:nvSpPr>
          <p:spPr>
            <a:xfrm>
              <a:off x="3157347" y="2479318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32"/>
            <p:cNvSpPr/>
            <p:nvPr/>
          </p:nvSpPr>
          <p:spPr>
            <a:xfrm>
              <a:off x="3143746" y="2888800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32"/>
            <p:cNvSpPr/>
            <p:nvPr/>
          </p:nvSpPr>
          <p:spPr>
            <a:xfrm>
              <a:off x="3143746" y="2913076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2"/>
            <p:cNvSpPr/>
            <p:nvPr/>
          </p:nvSpPr>
          <p:spPr>
            <a:xfrm>
              <a:off x="3143746" y="2937389"/>
              <a:ext cx="119375" cy="3665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32"/>
            <p:cNvSpPr/>
            <p:nvPr/>
          </p:nvSpPr>
          <p:spPr>
            <a:xfrm>
              <a:off x="2594639" y="2081903"/>
              <a:ext cx="871290" cy="982126"/>
            </a:xfrm>
            <a:custGeom>
              <a:avLst/>
              <a:gdLst/>
              <a:ahLst/>
              <a:cxnLst/>
              <a:rect l="l" t="t" r="r" b="b"/>
              <a:pathLst>
                <a:path w="1805783" h="2035494" extrusionOk="0">
                  <a:moveTo>
                    <a:pt x="1634108" y="2035494"/>
                  </a:moveTo>
                  <a:lnTo>
                    <a:pt x="171600" y="2035494"/>
                  </a:lnTo>
                  <a:cubicBezTo>
                    <a:pt x="76798" y="2035494"/>
                    <a:pt x="0" y="1958620"/>
                    <a:pt x="0" y="1863895"/>
                  </a:cubicBezTo>
                  <a:lnTo>
                    <a:pt x="0" y="171600"/>
                  </a:lnTo>
                  <a:cubicBezTo>
                    <a:pt x="-76" y="76874"/>
                    <a:pt x="76798" y="0"/>
                    <a:pt x="171600" y="0"/>
                  </a:cubicBezTo>
                  <a:lnTo>
                    <a:pt x="1634184" y="0"/>
                  </a:lnTo>
                  <a:cubicBezTo>
                    <a:pt x="1728985" y="0"/>
                    <a:pt x="1805783" y="76874"/>
                    <a:pt x="1805783" y="171600"/>
                  </a:cubicBezTo>
                  <a:lnTo>
                    <a:pt x="1805783" y="1863819"/>
                  </a:lnTo>
                  <a:cubicBezTo>
                    <a:pt x="1805783" y="1958620"/>
                    <a:pt x="1728909" y="2035494"/>
                    <a:pt x="1634108" y="20354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32"/>
            <p:cNvSpPr/>
            <p:nvPr/>
          </p:nvSpPr>
          <p:spPr>
            <a:xfrm>
              <a:off x="2594603" y="2323895"/>
              <a:ext cx="871290" cy="645078"/>
            </a:xfrm>
            <a:custGeom>
              <a:avLst/>
              <a:gdLst/>
              <a:ahLst/>
              <a:cxnLst/>
              <a:rect l="l" t="t" r="r" b="b"/>
              <a:pathLst>
                <a:path w="1805783" h="1336949" extrusionOk="0">
                  <a:moveTo>
                    <a:pt x="0" y="548154"/>
                  </a:moveTo>
                  <a:lnTo>
                    <a:pt x="205479" y="891277"/>
                  </a:lnTo>
                  <a:cubicBezTo>
                    <a:pt x="221507" y="918092"/>
                    <a:pt x="261615" y="913838"/>
                    <a:pt x="271642" y="884213"/>
                  </a:cubicBezTo>
                  <a:lnTo>
                    <a:pt x="550349" y="60854"/>
                  </a:lnTo>
                  <a:cubicBezTo>
                    <a:pt x="560832" y="29861"/>
                    <a:pt x="603523" y="27050"/>
                    <a:pt x="617956" y="56372"/>
                  </a:cubicBezTo>
                  <a:lnTo>
                    <a:pt x="729545" y="282893"/>
                  </a:lnTo>
                  <a:cubicBezTo>
                    <a:pt x="743522" y="311227"/>
                    <a:pt x="784466" y="309783"/>
                    <a:pt x="796392" y="280538"/>
                  </a:cubicBezTo>
                  <a:lnTo>
                    <a:pt x="901676" y="22797"/>
                  </a:lnTo>
                  <a:cubicBezTo>
                    <a:pt x="914362" y="-8272"/>
                    <a:pt x="958648" y="-7361"/>
                    <a:pt x="970119" y="24164"/>
                  </a:cubicBezTo>
                  <a:lnTo>
                    <a:pt x="1271918" y="857930"/>
                  </a:lnTo>
                  <a:cubicBezTo>
                    <a:pt x="1283844" y="890822"/>
                    <a:pt x="1330713" y="889910"/>
                    <a:pt x="1341348" y="856562"/>
                  </a:cubicBezTo>
                  <a:lnTo>
                    <a:pt x="1388065" y="709954"/>
                  </a:lnTo>
                  <a:cubicBezTo>
                    <a:pt x="1398776" y="676227"/>
                    <a:pt x="1446404" y="675771"/>
                    <a:pt x="1457723" y="709347"/>
                  </a:cubicBezTo>
                  <a:lnTo>
                    <a:pt x="1551916" y="987066"/>
                  </a:lnTo>
                  <a:cubicBezTo>
                    <a:pt x="1562703" y="1018818"/>
                    <a:pt x="1606989" y="1020642"/>
                    <a:pt x="1620283" y="989877"/>
                  </a:cubicBezTo>
                  <a:lnTo>
                    <a:pt x="1620283" y="989877"/>
                  </a:lnTo>
                  <a:cubicBezTo>
                    <a:pt x="1633576" y="959112"/>
                    <a:pt x="1677862" y="960859"/>
                    <a:pt x="1688649" y="992611"/>
                  </a:cubicBezTo>
                  <a:lnTo>
                    <a:pt x="1805783" y="133695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2"/>
            <p:cNvSpPr/>
            <p:nvPr/>
          </p:nvSpPr>
          <p:spPr>
            <a:xfrm>
              <a:off x="3054464" y="2358046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29"/>
                    <a:pt x="79229" y="102094"/>
                    <a:pt x="51047" y="102094"/>
                  </a:cubicBezTo>
                  <a:cubicBezTo>
                    <a:pt x="22865" y="102094"/>
                    <a:pt x="0" y="79229"/>
                    <a:pt x="0" y="51047"/>
                  </a:cubicBezTo>
                  <a:cubicBezTo>
                    <a:pt x="0" y="22865"/>
                    <a:pt x="22865" y="0"/>
                    <a:pt x="51047" y="0"/>
                  </a:cubicBezTo>
                  <a:cubicBezTo>
                    <a:pt x="79229" y="0"/>
                    <a:pt x="102094" y="22865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32"/>
            <p:cNvSpPr/>
            <p:nvPr/>
          </p:nvSpPr>
          <p:spPr>
            <a:xfrm>
              <a:off x="3306807" y="2724970"/>
              <a:ext cx="49260" cy="49260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5"/>
                    <a:pt x="22855" y="0"/>
                    <a:pt x="51047" y="0"/>
                  </a:cubicBezTo>
                  <a:cubicBezTo>
                    <a:pt x="79239" y="0"/>
                    <a:pt x="102094" y="22855"/>
                    <a:pt x="102094" y="5104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32"/>
            <p:cNvSpPr/>
            <p:nvPr/>
          </p:nvSpPr>
          <p:spPr>
            <a:xfrm>
              <a:off x="2734813" y="2455008"/>
              <a:ext cx="342916" cy="205028"/>
            </a:xfrm>
            <a:custGeom>
              <a:avLst/>
              <a:gdLst/>
              <a:ahLst/>
              <a:cxnLst/>
              <a:rect l="l" t="t" r="r" b="b"/>
              <a:pathLst>
                <a:path w="710706" h="424928" extrusionOk="0">
                  <a:moveTo>
                    <a:pt x="672269" y="6831"/>
                  </a:moveTo>
                  <a:lnTo>
                    <a:pt x="596762" y="84161"/>
                  </a:lnTo>
                  <a:lnTo>
                    <a:pt x="54085" y="84161"/>
                  </a:lnTo>
                  <a:cubicBezTo>
                    <a:pt x="24232" y="84161"/>
                    <a:pt x="0" y="108393"/>
                    <a:pt x="0" y="138246"/>
                  </a:cubicBezTo>
                  <a:lnTo>
                    <a:pt x="0" y="370843"/>
                  </a:lnTo>
                  <a:cubicBezTo>
                    <a:pt x="0" y="400697"/>
                    <a:pt x="24232" y="424929"/>
                    <a:pt x="54085" y="424929"/>
                  </a:cubicBezTo>
                  <a:lnTo>
                    <a:pt x="656621" y="424929"/>
                  </a:lnTo>
                  <a:cubicBezTo>
                    <a:pt x="686474" y="424929"/>
                    <a:pt x="710706" y="400697"/>
                    <a:pt x="710706" y="370843"/>
                  </a:cubicBezTo>
                  <a:lnTo>
                    <a:pt x="710706" y="84161"/>
                  </a:lnTo>
                  <a:lnTo>
                    <a:pt x="710706" y="22555"/>
                  </a:lnTo>
                  <a:cubicBezTo>
                    <a:pt x="710782" y="2349"/>
                    <a:pt x="686322" y="-7602"/>
                    <a:pt x="672269" y="683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32"/>
            <p:cNvSpPr/>
            <p:nvPr/>
          </p:nvSpPr>
          <p:spPr>
            <a:xfrm>
              <a:off x="2594603" y="2143434"/>
              <a:ext cx="871327" cy="3665"/>
            </a:xfrm>
            <a:custGeom>
              <a:avLst/>
              <a:gdLst/>
              <a:ahLst/>
              <a:cxnLst/>
              <a:rect l="l" t="t" r="r" b="b"/>
              <a:pathLst>
                <a:path w="1805859" h="7596" extrusionOk="0">
                  <a:moveTo>
                    <a:pt x="0" y="0"/>
                  </a:moveTo>
                  <a:lnTo>
                    <a:pt x="180585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3" name="Google Shape;503;p32"/>
          <p:cNvGrpSpPr/>
          <p:nvPr/>
        </p:nvGrpSpPr>
        <p:grpSpPr>
          <a:xfrm>
            <a:off x="-262423" y="4603993"/>
            <a:ext cx="988875" cy="824428"/>
            <a:chOff x="5378191" y="1701500"/>
            <a:chExt cx="611171" cy="509535"/>
          </a:xfrm>
        </p:grpSpPr>
        <p:sp>
          <p:nvSpPr>
            <p:cNvPr id="504" name="Google Shape;504;p32"/>
            <p:cNvSpPr/>
            <p:nvPr/>
          </p:nvSpPr>
          <p:spPr>
            <a:xfrm>
              <a:off x="5378191" y="1701500"/>
              <a:ext cx="611171" cy="509535"/>
            </a:xfrm>
            <a:custGeom>
              <a:avLst/>
              <a:gdLst/>
              <a:ahLst/>
              <a:cxnLst/>
              <a:rect l="l" t="t" r="r" b="b"/>
              <a:pathLst>
                <a:path w="1266676" h="1056032" extrusionOk="0">
                  <a:moveTo>
                    <a:pt x="1101761" y="1056032"/>
                  </a:moveTo>
                  <a:lnTo>
                    <a:pt x="164915" y="1056032"/>
                  </a:lnTo>
                  <a:cubicBezTo>
                    <a:pt x="73835" y="1056032"/>
                    <a:pt x="0" y="982197"/>
                    <a:pt x="0" y="891118"/>
                  </a:cubicBezTo>
                  <a:lnTo>
                    <a:pt x="0" y="164915"/>
                  </a:lnTo>
                  <a:cubicBezTo>
                    <a:pt x="0" y="73836"/>
                    <a:pt x="73835" y="0"/>
                    <a:pt x="164915" y="0"/>
                  </a:cubicBezTo>
                  <a:lnTo>
                    <a:pt x="1101761" y="0"/>
                  </a:lnTo>
                  <a:cubicBezTo>
                    <a:pt x="1192841" y="0"/>
                    <a:pt x="1266677" y="73836"/>
                    <a:pt x="1266677" y="164915"/>
                  </a:cubicBezTo>
                  <a:lnTo>
                    <a:pt x="1266677" y="891118"/>
                  </a:lnTo>
                  <a:cubicBezTo>
                    <a:pt x="1266677" y="982197"/>
                    <a:pt x="1192841" y="1056032"/>
                    <a:pt x="1101761" y="10560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5497928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560845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2"/>
            <p:cNvSpPr/>
            <p:nvPr/>
          </p:nvSpPr>
          <p:spPr>
            <a:xfrm>
              <a:off x="571901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32"/>
            <p:cNvSpPr/>
            <p:nvPr/>
          </p:nvSpPr>
          <p:spPr>
            <a:xfrm>
              <a:off x="582957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5497928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2"/>
            <p:cNvSpPr/>
            <p:nvPr/>
          </p:nvSpPr>
          <p:spPr>
            <a:xfrm>
              <a:off x="560845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2"/>
            <p:cNvSpPr/>
            <p:nvPr/>
          </p:nvSpPr>
          <p:spPr>
            <a:xfrm>
              <a:off x="571901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rgbClr val="6E6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582957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5497928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560845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2"/>
            <p:cNvSpPr/>
            <p:nvPr/>
          </p:nvSpPr>
          <p:spPr>
            <a:xfrm>
              <a:off x="571901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2"/>
            <p:cNvSpPr/>
            <p:nvPr/>
          </p:nvSpPr>
          <p:spPr>
            <a:xfrm>
              <a:off x="582957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5497928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2"/>
            <p:cNvSpPr/>
            <p:nvPr/>
          </p:nvSpPr>
          <p:spPr>
            <a:xfrm>
              <a:off x="560845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571901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32"/>
            <p:cNvSpPr/>
            <p:nvPr/>
          </p:nvSpPr>
          <p:spPr>
            <a:xfrm>
              <a:off x="582957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Google Shape;532;p33">
            <a:extLst>
              <a:ext uri="{FF2B5EF4-FFF2-40B4-BE49-F238E27FC236}">
                <a16:creationId xmlns:a16="http://schemas.microsoft.com/office/drawing/2014/main" id="{FEDD5801-6F38-BE44-543F-E4D23848977F}"/>
              </a:ext>
            </a:extLst>
          </p:cNvPr>
          <p:cNvSpPr txBox="1">
            <a:spLocks/>
          </p:cNvSpPr>
          <p:nvPr/>
        </p:nvSpPr>
        <p:spPr>
          <a:xfrm>
            <a:off x="720000" y="1705402"/>
            <a:ext cx="6222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ru-RU" b="1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Этапы анализа</a:t>
            </a:r>
            <a:endParaRPr lang="en-US" b="1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4"/>
          <p:cNvSpPr txBox="1">
            <a:spLocks noGrp="1"/>
          </p:cNvSpPr>
          <p:nvPr>
            <p:ph type="title"/>
          </p:nvPr>
        </p:nvSpPr>
        <p:spPr>
          <a:xfrm>
            <a:off x="720000" y="22284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Результаты предобработки</a:t>
            </a:r>
            <a:endParaRPr b="1" dirty="0"/>
          </a:p>
        </p:txBody>
      </p:sp>
      <p:grpSp>
        <p:nvGrpSpPr>
          <p:cNvPr id="559" name="Google Shape;559;p34"/>
          <p:cNvGrpSpPr/>
          <p:nvPr/>
        </p:nvGrpSpPr>
        <p:grpSpPr>
          <a:xfrm>
            <a:off x="350755" y="4018677"/>
            <a:ext cx="902056" cy="901976"/>
            <a:chOff x="4246593" y="503852"/>
            <a:chExt cx="902056" cy="901976"/>
          </a:xfrm>
        </p:grpSpPr>
        <p:grpSp>
          <p:nvGrpSpPr>
            <p:cNvPr id="560" name="Google Shape;560;p34"/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561" name="Google Shape;561;p34"/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34"/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3" name="Google Shape;563;p34"/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34"/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5" name="Google Shape;565;p34"/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566" name="Google Shape;566;p34"/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34"/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34"/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6D127B-C5AD-E24E-93A4-7414422AABAB}"/>
              </a:ext>
            </a:extLst>
          </p:cNvPr>
          <p:cNvSpPr txBox="1"/>
          <p:nvPr/>
        </p:nvSpPr>
        <p:spPr>
          <a:xfrm>
            <a:off x="368138" y="949700"/>
            <a:ext cx="529132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1. Исходный объём данных: 1012 строк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2. Удалено строк с пропусками: 13 (1.3%)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3. Удалено полных дубликатов: 2 (0.2%)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4. Общие потери данных: 15 строк (1.5%)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5. Осталось для анализа: 997 строк (98.5% от исходных)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3DBAF4-9163-A914-4DA6-FB5535AEF272}"/>
              </a:ext>
            </a:extLst>
          </p:cNvPr>
          <p:cNvSpPr txBox="1"/>
          <p:nvPr/>
        </p:nvSpPr>
        <p:spPr>
          <a:xfrm>
            <a:off x="368138" y="1974582"/>
            <a:ext cx="52893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Исследуемый период — с мая по октябрь 2019 года (6 месяцев). </a:t>
            </a:r>
          </a:p>
          <a:p>
            <a:b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</a:b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Анализ конверсии по месяцам: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Май: 21,9% (32/146) — низкий старт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Июнь: 31,8% (49/154) — рост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Июль: 29,2% (42/144) — стабилизация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Август: 36,9% (69/187) — пик эффективности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Сентябрь: 20,1% (37/184) — критическое падение</a:t>
            </a: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Октябрь: 25,3% (46/182) — частичное восстановление</a:t>
            </a:r>
          </a:p>
        </p:txBody>
      </p:sp>
      <p:pic>
        <p:nvPicPr>
          <p:cNvPr id="9" name="Рисунок 8" descr="Изображение выглядит как текст, снимок экрана, График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ECF1CDDD-8393-FE9B-5537-E3A642CDD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094" y="2430910"/>
            <a:ext cx="4134483" cy="158776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A94AC83-B0B0-8DB2-E05E-6AAE7EA9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653" y="543280"/>
            <a:ext cx="2528243" cy="1696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8"/>
          <p:cNvSpPr txBox="1">
            <a:spLocks noGrp="1"/>
          </p:cNvSpPr>
          <p:nvPr>
            <p:ph type="title"/>
          </p:nvPr>
        </p:nvSpPr>
        <p:spPr>
          <a:xfrm>
            <a:off x="475785" y="234457"/>
            <a:ext cx="8426155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Результаты аналитического и графического анализов</a:t>
            </a:r>
            <a:endParaRPr b="1" dirty="0"/>
          </a:p>
        </p:txBody>
      </p:sp>
      <p:grpSp>
        <p:nvGrpSpPr>
          <p:cNvPr id="665" name="Google Shape;665;p38"/>
          <p:cNvGrpSpPr/>
          <p:nvPr/>
        </p:nvGrpSpPr>
        <p:grpSpPr>
          <a:xfrm>
            <a:off x="-773516" y="4111588"/>
            <a:ext cx="1689042" cy="1031912"/>
            <a:chOff x="3577367" y="1677509"/>
            <a:chExt cx="1393254" cy="851132"/>
          </a:xfrm>
        </p:grpSpPr>
        <p:sp>
          <p:nvSpPr>
            <p:cNvPr id="666" name="Google Shape;666;p38"/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38"/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38"/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38"/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38"/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38"/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38"/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38"/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C7DE619-F7AE-6B21-74B4-E0537456E4B8}"/>
              </a:ext>
            </a:extLst>
          </p:cNvPr>
          <p:cNvSpPr txBox="1"/>
          <p:nvPr/>
        </p:nvSpPr>
        <p:spPr>
          <a:xfrm>
            <a:off x="475785" y="1215317"/>
            <a:ext cx="41624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США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— абсолютный лидер: 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61.7%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выручки и 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70.5%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покупок.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Германия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— наименее эффективный регион (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7%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выручки).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A28490-3457-4C85-8EF3-14EB7F8AE446}"/>
              </a:ext>
            </a:extLst>
          </p:cNvPr>
          <p:cNvSpPr txBox="1"/>
          <p:nvPr/>
        </p:nvSpPr>
        <p:spPr>
          <a:xfrm>
            <a:off x="4327387" y="3396444"/>
            <a:ext cx="43386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Organic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 + соцсети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= 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68.4%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выручки (основные драйверы бизнеса).</a:t>
            </a:r>
          </a:p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Контекстная реклама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(самая дорогая) показывает скромные результаты (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11.7%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выручки).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DB7FD0-EF9C-AABC-28DF-8B8B68EC2625}"/>
              </a:ext>
            </a:extLst>
          </p:cNvPr>
          <p:cNvSpPr txBox="1"/>
          <p:nvPr/>
        </p:nvSpPr>
        <p:spPr>
          <a:xfrm>
            <a:off x="4327387" y="2603105"/>
            <a:ext cx="48191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iPhone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приносит больше денег (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32.4%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выручки), но по количеству покупок </a:t>
            </a:r>
            <a:r>
              <a:rPr lang="ru-RU" sz="1200" dirty="0" err="1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Android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почти догоняет (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25.8% </a:t>
            </a:r>
            <a:r>
              <a:rPr lang="ru-RU" sz="1200" dirty="0" err="1">
                <a:solidFill>
                  <a:schemeClr val="dk1"/>
                </a:solidFill>
                <a:latin typeface="Inter"/>
                <a:ea typeface="Inter"/>
              </a:rPr>
              <a:t>vs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34.2%).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C22F7B9-3ED6-A091-A6FB-FB59596754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59" r="2338"/>
          <a:stretch/>
        </p:blipFill>
        <p:spPr>
          <a:xfrm>
            <a:off x="4572001" y="952500"/>
            <a:ext cx="4329940" cy="154129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3F6D8C-8EC8-5165-6C7A-8544DCC9AE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606" y="2667141"/>
            <a:ext cx="3815779" cy="13258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39"/>
          <p:cNvSpPr txBox="1">
            <a:spLocks noGrp="1"/>
          </p:cNvSpPr>
          <p:nvPr>
            <p:ph type="title"/>
          </p:nvPr>
        </p:nvSpPr>
        <p:spPr>
          <a:xfrm>
            <a:off x="686997" y="15906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Результаты расчётов </a:t>
            </a:r>
            <a:endParaRPr b="1" dirty="0"/>
          </a:p>
        </p:txBody>
      </p:sp>
      <p:grpSp>
        <p:nvGrpSpPr>
          <p:cNvPr id="721" name="Google Shape;721;p39"/>
          <p:cNvGrpSpPr/>
          <p:nvPr/>
        </p:nvGrpSpPr>
        <p:grpSpPr>
          <a:xfrm>
            <a:off x="7246797" y="4612775"/>
            <a:ext cx="1393254" cy="851132"/>
            <a:chOff x="3577367" y="1677509"/>
            <a:chExt cx="1393254" cy="851132"/>
          </a:xfrm>
        </p:grpSpPr>
        <p:sp>
          <p:nvSpPr>
            <p:cNvPr id="722" name="Google Shape;722;p39"/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3" name="Google Shape;723;p39"/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4" name="Google Shape;724;p39"/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5" name="Google Shape;725;p39"/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6" name="Google Shape;726;p39"/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7" name="Google Shape;727;p39"/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8" name="Google Shape;728;p39"/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9" name="Google Shape;729;p39"/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0" name="Google Shape;730;p39"/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39"/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2" name="Google Shape;732;p39"/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3" name="Google Shape;733;p39"/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39"/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39"/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39"/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39"/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39"/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0" name="Google Shape;740;p39"/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1" name="Google Shape;741;p39"/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39"/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BF811E2-DEA0-A55E-149C-C50EE7E0AB87}"/>
              </a:ext>
            </a:extLst>
          </p:cNvPr>
          <p:cNvSpPr txBox="1"/>
          <p:nvPr/>
        </p:nvSpPr>
        <p:spPr>
          <a:xfrm>
            <a:off x="5885636" y="1164503"/>
            <a:ext cx="3213207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Наибольший средний доход на пользователя обеспечивает 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реклама у блогеров</a:t>
            </a:r>
          </a:p>
          <a:p>
            <a:pPr algn="ctr"/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11 999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руб.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D7105-0831-8D0C-91B5-4A4E0FCAEF62}"/>
              </a:ext>
            </a:extLst>
          </p:cNvPr>
          <p:cNvSpPr txBox="1"/>
          <p:nvPr/>
        </p:nvSpPr>
        <p:spPr>
          <a:xfrm>
            <a:off x="686997" y="1163289"/>
            <a:ext cx="26631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</a:rPr>
              <a:t>Франция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показывает наивысший средний чек среди регионов 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12 959</a:t>
            </a:r>
            <a:r>
              <a:rPr lang="ru-RU" sz="1200" dirty="0">
                <a:solidFill>
                  <a:schemeClr val="dk1"/>
                </a:solidFill>
                <a:latin typeface="Arial Black" panose="020B0A04020102020204" pitchFamily="34" charset="0"/>
                <a:ea typeface="Inter"/>
              </a:rPr>
              <a:t>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руб.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5E02DF-3191-35A1-070B-1EE16F38507D}"/>
              </a:ext>
            </a:extLst>
          </p:cNvPr>
          <p:cNvSpPr txBox="1"/>
          <p:nvPr/>
        </p:nvSpPr>
        <p:spPr>
          <a:xfrm>
            <a:off x="3686175" y="2453874"/>
            <a:ext cx="26631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Самый прибыльный месяц</a:t>
            </a:r>
          </a:p>
          <a:p>
            <a:pPr algn="ctr"/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 </a:t>
            </a:r>
            <a:r>
              <a:rPr lang="ru-RU" sz="1600" dirty="0">
                <a:solidFill>
                  <a:schemeClr val="accent1"/>
                </a:solidFill>
                <a:latin typeface="Arial Black" panose="020B0A04020102020204" pitchFamily="34" charset="0"/>
                <a:ea typeface="Inter"/>
              </a:rPr>
              <a:t>май</a:t>
            </a:r>
            <a:endParaRPr lang="ru-RU" sz="1200" dirty="0">
              <a:solidFill>
                <a:schemeClr val="accent1"/>
              </a:solidFill>
              <a:latin typeface="Arial Black" panose="020B0A04020102020204" pitchFamily="34" charset="0"/>
              <a:ea typeface="Inter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3145675-F92F-6191-2181-781E28DB0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56" y="1871175"/>
            <a:ext cx="3125472" cy="166417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84E4C51-95DF-8B7B-97E7-7494E8127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4544" y="2999111"/>
            <a:ext cx="2515978" cy="1845199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CEC3174-A472-8BF2-CBE9-8D0ED7994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7707" y="2035735"/>
            <a:ext cx="2714296" cy="2030875"/>
          </a:xfrm>
          <a:prstGeom prst="rect">
            <a:avLst/>
          </a:prstGeom>
        </p:spPr>
      </p:pic>
      <p:grpSp>
        <p:nvGrpSpPr>
          <p:cNvPr id="16" name="Google Shape;690;p38">
            <a:extLst>
              <a:ext uri="{FF2B5EF4-FFF2-40B4-BE49-F238E27FC236}">
                <a16:creationId xmlns:a16="http://schemas.microsoft.com/office/drawing/2014/main" id="{97181CED-B53D-4ED2-14BA-DC7C9617480F}"/>
              </a:ext>
            </a:extLst>
          </p:cNvPr>
          <p:cNvGrpSpPr/>
          <p:nvPr/>
        </p:nvGrpSpPr>
        <p:grpSpPr>
          <a:xfrm>
            <a:off x="150064" y="3719592"/>
            <a:ext cx="1518587" cy="1233056"/>
            <a:chOff x="7329141" y="362469"/>
            <a:chExt cx="1022136" cy="829949"/>
          </a:xfrm>
        </p:grpSpPr>
        <p:sp>
          <p:nvSpPr>
            <p:cNvPr id="17" name="Google Shape;691;p38">
              <a:extLst>
                <a:ext uri="{FF2B5EF4-FFF2-40B4-BE49-F238E27FC236}">
                  <a16:creationId xmlns:a16="http://schemas.microsoft.com/office/drawing/2014/main" id="{A906DFB2-F2FB-D2C2-5689-B380527DEECD}"/>
                </a:ext>
              </a:extLst>
            </p:cNvPr>
            <p:cNvSpPr/>
            <p:nvPr/>
          </p:nvSpPr>
          <p:spPr>
            <a:xfrm>
              <a:off x="7329141" y="362469"/>
              <a:ext cx="1022136" cy="829949"/>
            </a:xfrm>
            <a:custGeom>
              <a:avLst/>
              <a:gdLst/>
              <a:ahLst/>
              <a:cxnLst/>
              <a:rect l="l" t="t" r="r" b="b"/>
              <a:pathLst>
                <a:path w="1901648" h="1544092" extrusionOk="0">
                  <a:moveTo>
                    <a:pt x="1770840" y="1544092"/>
                  </a:moveTo>
                  <a:lnTo>
                    <a:pt x="130807" y="1544092"/>
                  </a:lnTo>
                  <a:cubicBezTo>
                    <a:pt x="58567" y="1544092"/>
                    <a:pt x="0" y="1485525"/>
                    <a:pt x="0" y="1413285"/>
                  </a:cubicBezTo>
                  <a:lnTo>
                    <a:pt x="0" y="130808"/>
                  </a:lnTo>
                  <a:cubicBezTo>
                    <a:pt x="0" y="58567"/>
                    <a:pt x="58567" y="0"/>
                    <a:pt x="130807" y="0"/>
                  </a:cubicBezTo>
                  <a:lnTo>
                    <a:pt x="1770840" y="0"/>
                  </a:lnTo>
                  <a:cubicBezTo>
                    <a:pt x="1843081" y="0"/>
                    <a:pt x="1901648" y="58567"/>
                    <a:pt x="1901648" y="130808"/>
                  </a:cubicBezTo>
                  <a:lnTo>
                    <a:pt x="1901648" y="1413285"/>
                  </a:lnTo>
                  <a:cubicBezTo>
                    <a:pt x="1901648" y="1485449"/>
                    <a:pt x="1843081" y="1544092"/>
                    <a:pt x="1770840" y="154409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692;p38">
              <a:extLst>
                <a:ext uri="{FF2B5EF4-FFF2-40B4-BE49-F238E27FC236}">
                  <a16:creationId xmlns:a16="http://schemas.microsoft.com/office/drawing/2014/main" id="{380328E4-E99D-00A2-8212-C16FE421DF76}"/>
                </a:ext>
              </a:extLst>
            </p:cNvPr>
            <p:cNvSpPr/>
            <p:nvPr/>
          </p:nvSpPr>
          <p:spPr>
            <a:xfrm>
              <a:off x="7479397" y="507863"/>
              <a:ext cx="275724" cy="489918"/>
            </a:xfrm>
            <a:custGeom>
              <a:avLst/>
              <a:gdLst/>
              <a:ahLst/>
              <a:cxnLst/>
              <a:rect l="l" t="t" r="r" b="b"/>
              <a:pathLst>
                <a:path w="512975" h="911475" extrusionOk="0">
                  <a:moveTo>
                    <a:pt x="512976" y="0"/>
                  </a:moveTo>
                  <a:cubicBezTo>
                    <a:pt x="229635" y="0"/>
                    <a:pt x="0" y="229635"/>
                    <a:pt x="0" y="512976"/>
                  </a:cubicBezTo>
                  <a:cubicBezTo>
                    <a:pt x="0" y="673864"/>
                    <a:pt x="74064" y="817434"/>
                    <a:pt x="189983" y="911476"/>
                  </a:cubicBezTo>
                  <a:lnTo>
                    <a:pt x="512976" y="512976"/>
                  </a:lnTo>
                  <a:lnTo>
                    <a:pt x="5129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" name="Google Shape;693;p38">
              <a:extLst>
                <a:ext uri="{FF2B5EF4-FFF2-40B4-BE49-F238E27FC236}">
                  <a16:creationId xmlns:a16="http://schemas.microsoft.com/office/drawing/2014/main" id="{2474CDAA-0EE0-EBB6-B62F-9DE518C35080}"/>
                </a:ext>
              </a:extLst>
            </p:cNvPr>
            <p:cNvGrpSpPr/>
            <p:nvPr/>
          </p:nvGrpSpPr>
          <p:grpSpPr>
            <a:xfrm>
              <a:off x="7581570" y="507863"/>
              <a:ext cx="449624" cy="551756"/>
              <a:chOff x="6727477" y="1096947"/>
              <a:chExt cx="836044" cy="1025951"/>
            </a:xfrm>
          </p:grpSpPr>
          <p:sp>
            <p:nvSpPr>
              <p:cNvPr id="29" name="Google Shape;694;p38">
                <a:extLst>
                  <a:ext uri="{FF2B5EF4-FFF2-40B4-BE49-F238E27FC236}">
                    <a16:creationId xmlns:a16="http://schemas.microsoft.com/office/drawing/2014/main" id="{9D13E023-C7B7-B9CB-DBA0-FA87A9D6A37F}"/>
                  </a:ext>
                </a:extLst>
              </p:cNvPr>
              <p:cNvSpPr/>
              <p:nvPr/>
            </p:nvSpPr>
            <p:spPr>
              <a:xfrm>
                <a:off x="7050546" y="1096947"/>
                <a:ext cx="512975" cy="1014176"/>
              </a:xfrm>
              <a:custGeom>
                <a:avLst/>
                <a:gdLst/>
                <a:ahLst/>
                <a:cxnLst/>
                <a:rect l="l" t="t" r="r" b="b"/>
                <a:pathLst>
                  <a:path w="512975" h="1014176" extrusionOk="0">
                    <a:moveTo>
                      <a:pt x="512976" y="512976"/>
                    </a:moveTo>
                    <a:cubicBezTo>
                      <a:pt x="512976" y="229635"/>
                      <a:pt x="283341" y="0"/>
                      <a:pt x="0" y="0"/>
                    </a:cubicBezTo>
                    <a:lnTo>
                      <a:pt x="0" y="512976"/>
                    </a:lnTo>
                    <a:lnTo>
                      <a:pt x="109538" y="1014177"/>
                    </a:lnTo>
                    <a:cubicBezTo>
                      <a:pt x="340161" y="963966"/>
                      <a:pt x="512976" y="758639"/>
                      <a:pt x="512976" y="51297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" name="Google Shape;695;p38">
                <a:extLst>
                  <a:ext uri="{FF2B5EF4-FFF2-40B4-BE49-F238E27FC236}">
                    <a16:creationId xmlns:a16="http://schemas.microsoft.com/office/drawing/2014/main" id="{3501DF3E-6390-75DF-8BCC-401E8F8B593F}"/>
                  </a:ext>
                </a:extLst>
              </p:cNvPr>
              <p:cNvSpPr/>
              <p:nvPr/>
            </p:nvSpPr>
            <p:spPr>
              <a:xfrm>
                <a:off x="6727477" y="1609923"/>
                <a:ext cx="432531" cy="512975"/>
              </a:xfrm>
              <a:custGeom>
                <a:avLst/>
                <a:gdLst/>
                <a:ahLst/>
                <a:cxnLst/>
                <a:rect l="l" t="t" r="r" b="b"/>
                <a:pathLst>
                  <a:path w="432531" h="512975" extrusionOk="0">
                    <a:moveTo>
                      <a:pt x="0" y="398500"/>
                    </a:moveTo>
                    <a:cubicBezTo>
                      <a:pt x="88192" y="470057"/>
                      <a:pt x="200617" y="512976"/>
                      <a:pt x="322993" y="512976"/>
                    </a:cubicBezTo>
                    <a:cubicBezTo>
                      <a:pt x="360594" y="512976"/>
                      <a:pt x="397208" y="508874"/>
                      <a:pt x="432531" y="501201"/>
                    </a:cubicBezTo>
                    <a:lnTo>
                      <a:pt x="322993" y="0"/>
                    </a:lnTo>
                    <a:lnTo>
                      <a:pt x="0" y="398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" name="Google Shape;696;p38">
              <a:extLst>
                <a:ext uri="{FF2B5EF4-FFF2-40B4-BE49-F238E27FC236}">
                  <a16:creationId xmlns:a16="http://schemas.microsoft.com/office/drawing/2014/main" id="{3D6AB1AF-CE58-6075-D3D2-33A4E68E323A}"/>
                </a:ext>
              </a:extLst>
            </p:cNvPr>
            <p:cNvSpPr/>
            <p:nvPr/>
          </p:nvSpPr>
          <p:spPr>
            <a:xfrm>
              <a:off x="7755275" y="507863"/>
              <a:ext cx="222278" cy="438881"/>
            </a:xfrm>
            <a:custGeom>
              <a:avLst/>
              <a:gdLst/>
              <a:ahLst/>
              <a:cxnLst/>
              <a:rect l="l" t="t" r="r" b="b"/>
              <a:pathLst>
                <a:path w="413540" h="816522" extrusionOk="0">
                  <a:moveTo>
                    <a:pt x="0" y="0"/>
                  </a:moveTo>
                  <a:lnTo>
                    <a:pt x="0" y="512976"/>
                  </a:lnTo>
                  <a:lnTo>
                    <a:pt x="413541" y="81652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697;p38">
              <a:extLst>
                <a:ext uri="{FF2B5EF4-FFF2-40B4-BE49-F238E27FC236}">
                  <a16:creationId xmlns:a16="http://schemas.microsoft.com/office/drawing/2014/main" id="{00F51482-3249-3CF5-4C3C-368F33601AB4}"/>
                </a:ext>
              </a:extLst>
            </p:cNvPr>
            <p:cNvSpPr/>
            <p:nvPr/>
          </p:nvSpPr>
          <p:spPr>
            <a:xfrm>
              <a:off x="7918481" y="577354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698;p38">
              <a:extLst>
                <a:ext uri="{FF2B5EF4-FFF2-40B4-BE49-F238E27FC236}">
                  <a16:creationId xmlns:a16="http://schemas.microsoft.com/office/drawing/2014/main" id="{DFD6AD06-7A81-D78D-E4C5-DDFFFCA602DD}"/>
                </a:ext>
              </a:extLst>
            </p:cNvPr>
            <p:cNvSpPr/>
            <p:nvPr/>
          </p:nvSpPr>
          <p:spPr>
            <a:xfrm>
              <a:off x="7986379" y="855683"/>
              <a:ext cx="207620" cy="40707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699;p38">
              <a:extLst>
                <a:ext uri="{FF2B5EF4-FFF2-40B4-BE49-F238E27FC236}">
                  <a16:creationId xmlns:a16="http://schemas.microsoft.com/office/drawing/2014/main" id="{E1816BF8-6114-9DB1-5277-DCB26D02B6B5}"/>
                </a:ext>
              </a:extLst>
            </p:cNvPr>
            <p:cNvSpPr/>
            <p:nvPr/>
          </p:nvSpPr>
          <p:spPr>
            <a:xfrm>
              <a:off x="8078706" y="664248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00;p38">
              <a:extLst>
                <a:ext uri="{FF2B5EF4-FFF2-40B4-BE49-F238E27FC236}">
                  <a16:creationId xmlns:a16="http://schemas.microsoft.com/office/drawing/2014/main" id="{0C374C6E-EEB7-8269-ACF7-0226D157B281}"/>
                </a:ext>
              </a:extLst>
            </p:cNvPr>
            <p:cNvSpPr/>
            <p:nvPr/>
          </p:nvSpPr>
          <p:spPr>
            <a:xfrm>
              <a:off x="8078706" y="691415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01;p38">
              <a:extLst>
                <a:ext uri="{FF2B5EF4-FFF2-40B4-BE49-F238E27FC236}">
                  <a16:creationId xmlns:a16="http://schemas.microsoft.com/office/drawing/2014/main" id="{ADC6973D-0E09-811C-F072-E2D4EEBA9980}"/>
                </a:ext>
              </a:extLst>
            </p:cNvPr>
            <p:cNvSpPr/>
            <p:nvPr/>
          </p:nvSpPr>
          <p:spPr>
            <a:xfrm>
              <a:off x="8078706" y="718541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02;p38">
              <a:extLst>
                <a:ext uri="{FF2B5EF4-FFF2-40B4-BE49-F238E27FC236}">
                  <a16:creationId xmlns:a16="http://schemas.microsoft.com/office/drawing/2014/main" id="{6796C51E-5EF9-9502-1A6C-EB16875F8C3B}"/>
                </a:ext>
              </a:extLst>
            </p:cNvPr>
            <p:cNvSpPr/>
            <p:nvPr/>
          </p:nvSpPr>
          <p:spPr>
            <a:xfrm>
              <a:off x="8078706" y="946989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03;p38">
              <a:extLst>
                <a:ext uri="{FF2B5EF4-FFF2-40B4-BE49-F238E27FC236}">
                  <a16:creationId xmlns:a16="http://schemas.microsoft.com/office/drawing/2014/main" id="{C37AD6A0-2CBD-AC42-F707-3B2F7A554F4D}"/>
                </a:ext>
              </a:extLst>
            </p:cNvPr>
            <p:cNvSpPr/>
            <p:nvPr/>
          </p:nvSpPr>
          <p:spPr>
            <a:xfrm>
              <a:off x="8078706" y="974156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04;p38">
              <a:extLst>
                <a:ext uri="{FF2B5EF4-FFF2-40B4-BE49-F238E27FC236}">
                  <a16:creationId xmlns:a16="http://schemas.microsoft.com/office/drawing/2014/main" id="{9449A25F-E8BC-69D6-EF6E-3BE7B7A280A4}"/>
                </a:ext>
              </a:extLst>
            </p:cNvPr>
            <p:cNvSpPr/>
            <p:nvPr/>
          </p:nvSpPr>
          <p:spPr>
            <a:xfrm>
              <a:off x="8078706" y="1001323"/>
              <a:ext cx="132983" cy="4083"/>
            </a:xfrm>
            <a:custGeom>
              <a:avLst/>
              <a:gdLst/>
              <a:ahLst/>
              <a:cxnLst/>
              <a:rect l="l" t="t" r="r" b="b"/>
              <a:pathLst>
                <a:path w="247410" h="7596" extrusionOk="0">
                  <a:moveTo>
                    <a:pt x="0" y="0"/>
                  </a:moveTo>
                  <a:lnTo>
                    <a:pt x="24741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40"/>
          <p:cNvSpPr txBox="1">
            <a:spLocks noGrp="1"/>
          </p:cNvSpPr>
          <p:nvPr>
            <p:ph type="title"/>
          </p:nvPr>
        </p:nvSpPr>
        <p:spPr>
          <a:xfrm>
            <a:off x="268147" y="22814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ru-RU" b="1" dirty="0"/>
              <a:t>Результаты проверки гипотез</a:t>
            </a:r>
            <a:endParaRPr b="1" dirty="0"/>
          </a:p>
        </p:txBody>
      </p:sp>
      <p:grpSp>
        <p:nvGrpSpPr>
          <p:cNvPr id="755" name="Google Shape;755;p40"/>
          <p:cNvGrpSpPr/>
          <p:nvPr/>
        </p:nvGrpSpPr>
        <p:grpSpPr>
          <a:xfrm flipH="1">
            <a:off x="-602584" y="4352024"/>
            <a:ext cx="1669187" cy="1112825"/>
            <a:chOff x="5491417" y="588600"/>
            <a:chExt cx="1098728" cy="732459"/>
          </a:xfrm>
        </p:grpSpPr>
        <p:sp>
          <p:nvSpPr>
            <p:cNvPr id="756" name="Google Shape;756;p40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40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40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40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40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40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40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40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40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40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40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40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40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40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40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40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40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40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40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40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40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40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40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40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40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40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2" name="Google Shape;782;p40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3" name="Google Shape;783;p40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0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0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0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40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40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40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40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40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40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5B18120-F562-D7F3-BA5A-EB585C59EE86}"/>
              </a:ext>
            </a:extLst>
          </p:cNvPr>
          <p:cNvSpPr txBox="1"/>
          <p:nvPr/>
        </p:nvSpPr>
        <p:spPr>
          <a:xfrm>
            <a:off x="242001" y="1114395"/>
            <a:ext cx="51407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Тип устройства, тип рекламного канала </a:t>
            </a:r>
            <a:r>
              <a:rPr lang="ru-RU" sz="1200" dirty="0">
                <a:solidFill>
                  <a:schemeClr val="accent1"/>
                </a:solidFill>
                <a:latin typeface="Inter"/>
                <a:ea typeface="Inter"/>
                <a:sym typeface="Inter"/>
              </a:rPr>
              <a:t>не влияют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на количество покупок в день </a:t>
            </a:r>
          </a:p>
          <a:p>
            <a:pPr>
              <a:buClr>
                <a:schemeClr val="accent1"/>
              </a:buClr>
            </a:pPr>
            <a:endParaRPr lang="ru-RU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Средние чеки </a:t>
            </a:r>
            <a:r>
              <a:rPr lang="ru-RU" sz="1200" dirty="0">
                <a:solidFill>
                  <a:schemeClr val="accent1"/>
                </a:solidFill>
                <a:latin typeface="Inter"/>
                <a:ea typeface="Inter"/>
                <a:sym typeface="Inter"/>
              </a:rPr>
              <a:t>не отличаются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в зависимости от региона, рекламного канала и времени суток </a:t>
            </a:r>
          </a:p>
          <a:p>
            <a:pPr>
              <a:buClr>
                <a:schemeClr val="accent1"/>
              </a:buClr>
            </a:pPr>
            <a:endParaRPr lang="ru-RU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Взаимосвязь между продолжительностью сессии и суммой покупок </a:t>
            </a:r>
            <a:r>
              <a:rPr lang="ru-RU" sz="1200" dirty="0">
                <a:solidFill>
                  <a:schemeClr val="accent1"/>
                </a:solidFill>
                <a:latin typeface="Inter"/>
                <a:ea typeface="Inter"/>
                <a:sym typeface="Inter"/>
              </a:rPr>
              <a:t>не была выявлена</a:t>
            </a:r>
          </a:p>
          <a:p>
            <a:pPr>
              <a:buClr>
                <a:schemeClr val="accent1"/>
              </a:buClr>
            </a:pPr>
            <a:endParaRPr lang="ru-RU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  <a:p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Также были выдвинуты и проверены наши гипотезы, в ходе которых выявлено:</a:t>
            </a:r>
          </a:p>
          <a:p>
            <a:endParaRPr lang="ru-RU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Промокоды </a:t>
            </a:r>
            <a:r>
              <a:rPr lang="ru-RU" sz="1200" dirty="0">
                <a:solidFill>
                  <a:schemeClr val="accent2">
                    <a:lumMod val="75000"/>
                  </a:schemeClr>
                </a:solidFill>
                <a:latin typeface="Inter"/>
                <a:ea typeface="Inter"/>
                <a:sym typeface="Inter"/>
              </a:rPr>
              <a:t>влияют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 на конверсию</a:t>
            </a:r>
          </a:p>
          <a:p>
            <a:pPr>
              <a:buClr>
                <a:schemeClr val="accent1"/>
              </a:buClr>
            </a:pPr>
            <a:endParaRPr lang="ru-RU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Тип устройства </a:t>
            </a:r>
            <a:r>
              <a:rPr lang="ru-RU" sz="1200" dirty="0">
                <a:solidFill>
                  <a:schemeClr val="accent1"/>
                </a:solidFill>
                <a:latin typeface="Inter"/>
                <a:ea typeface="Inter"/>
                <a:sym typeface="Inter"/>
              </a:rPr>
              <a:t>не влияет 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на конверсию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4654C2E-212D-1D75-6081-7204695C1C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1" t="2010" r="1038" b="1117"/>
          <a:stretch/>
        </p:blipFill>
        <p:spPr>
          <a:xfrm>
            <a:off x="3575309" y="3213061"/>
            <a:ext cx="2467518" cy="182648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E7255E8-F3B7-77AC-1C3B-242FB824E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7416" y="2648850"/>
            <a:ext cx="2742294" cy="2030206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8A9916D6-E279-4B21-7B23-173A039380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57"/>
          <a:stretch/>
        </p:blipFill>
        <p:spPr>
          <a:xfrm>
            <a:off x="5623605" y="709814"/>
            <a:ext cx="2853698" cy="1832763"/>
          </a:xfrm>
          <a:prstGeom prst="rect">
            <a:avLst/>
          </a:prstGeom>
        </p:spPr>
      </p:pic>
      <p:grpSp>
        <p:nvGrpSpPr>
          <p:cNvPr id="793" name="Google Shape;793;p40"/>
          <p:cNvGrpSpPr/>
          <p:nvPr/>
        </p:nvGrpSpPr>
        <p:grpSpPr>
          <a:xfrm>
            <a:off x="8144369" y="-108693"/>
            <a:ext cx="1391332" cy="1391207"/>
            <a:chOff x="4246593" y="503852"/>
            <a:chExt cx="902056" cy="901976"/>
          </a:xfrm>
        </p:grpSpPr>
        <p:grpSp>
          <p:nvGrpSpPr>
            <p:cNvPr id="794" name="Google Shape;794;p40"/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795" name="Google Shape;795;p40"/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40"/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7" name="Google Shape;797;p40"/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40"/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9" name="Google Shape;799;p40"/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800" name="Google Shape;800;p40"/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40"/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40"/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9" name="Соединитель: изогнутый 18">
            <a:extLst>
              <a:ext uri="{FF2B5EF4-FFF2-40B4-BE49-F238E27FC236}">
                <a16:creationId xmlns:a16="http://schemas.microsoft.com/office/drawing/2014/main" id="{A60AEED2-4AF0-56C5-3F43-66A7B93B5292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572000" y="1282514"/>
            <a:ext cx="1051605" cy="34368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Соединитель: изогнутый 20">
            <a:extLst>
              <a:ext uri="{FF2B5EF4-FFF2-40B4-BE49-F238E27FC236}">
                <a16:creationId xmlns:a16="http://schemas.microsoft.com/office/drawing/2014/main" id="{73832C97-D7F6-1A77-873C-45A0AA8EF450}"/>
              </a:ext>
            </a:extLst>
          </p:cNvPr>
          <p:cNvCxnSpPr>
            <a:cxnSpLocks/>
          </p:cNvCxnSpPr>
          <p:nvPr/>
        </p:nvCxnSpPr>
        <p:spPr>
          <a:xfrm>
            <a:off x="4809068" y="1777545"/>
            <a:ext cx="1651205" cy="10602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оединитель: изогнутый 30">
            <a:extLst>
              <a:ext uri="{FF2B5EF4-FFF2-40B4-BE49-F238E27FC236}">
                <a16:creationId xmlns:a16="http://schemas.microsoft.com/office/drawing/2014/main" id="{6951842A-8E41-1866-E6E5-CD73D0937103}"/>
              </a:ext>
            </a:extLst>
          </p:cNvPr>
          <p:cNvCxnSpPr>
            <a:stCxn id="11" idx="2"/>
          </p:cNvCxnSpPr>
          <p:nvPr/>
        </p:nvCxnSpPr>
        <p:spPr>
          <a:xfrm rot="16200000" flipH="1">
            <a:off x="2978723" y="3810350"/>
            <a:ext cx="375307" cy="70803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"/>
          <p:cNvSpPr txBox="1">
            <a:spLocks noGrp="1"/>
          </p:cNvSpPr>
          <p:nvPr>
            <p:ph type="title"/>
          </p:nvPr>
        </p:nvSpPr>
        <p:spPr>
          <a:xfrm>
            <a:off x="487375" y="219962"/>
            <a:ext cx="842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Результаты регрессионного моделирования</a:t>
            </a:r>
            <a:endParaRPr b="1" dirty="0"/>
          </a:p>
        </p:txBody>
      </p:sp>
      <p:sp>
        <p:nvSpPr>
          <p:cNvPr id="832" name="Google Shape;832;p42"/>
          <p:cNvSpPr txBox="1">
            <a:spLocks noGrp="1"/>
          </p:cNvSpPr>
          <p:nvPr>
            <p:ph type="subTitle" idx="7"/>
          </p:nvPr>
        </p:nvSpPr>
        <p:spPr>
          <a:xfrm>
            <a:off x="4167544" y="1294855"/>
            <a:ext cx="4743831" cy="18598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 dirty="0"/>
              <a:t>R² = 0,84 </a:t>
            </a:r>
            <a:r>
              <a:rPr lang="ru-RU" sz="1200" dirty="0"/>
              <a:t>Модель объясняет </a:t>
            </a:r>
            <a:r>
              <a:rPr lang="ru-RU" sz="1200" dirty="0">
                <a:solidFill>
                  <a:schemeClr val="accent4"/>
                </a:solidFill>
              </a:rPr>
              <a:t>84% вариации </a:t>
            </a:r>
            <a:r>
              <a:rPr lang="ru-RU" sz="1200" dirty="0"/>
              <a:t>недельного дохода и покупателей на основе рекламного бюджета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lang="ru-RU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dirty="0"/>
              <a:t>MAE = </a:t>
            </a:r>
            <a:r>
              <a:rPr lang="ru-RU" sz="1200" dirty="0"/>
              <a:t>2582.25 </a:t>
            </a:r>
            <a:r>
              <a:rPr lang="en-US" sz="1200" dirty="0"/>
              <a:t>$</a:t>
            </a:r>
            <a:r>
              <a:rPr lang="ru-RU" sz="1200" dirty="0"/>
              <a:t> - В среднем прогноз модели отклоняется от фактического дохода менее чем на 2 634</a:t>
            </a:r>
            <a:r>
              <a:rPr lang="en-US" sz="1200" dirty="0"/>
              <a:t>$ (</a:t>
            </a:r>
            <a:r>
              <a:rPr lang="ru-RU" sz="1200" dirty="0"/>
              <a:t>около 30%</a:t>
            </a:r>
            <a:r>
              <a:rPr lang="en-US" sz="1200" dirty="0"/>
              <a:t>)</a:t>
            </a:r>
            <a:r>
              <a:rPr lang="ru-RU" sz="120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lang="en-US"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US" sz="1200" dirty="0"/>
              <a:t>MAE = 0,5 </a:t>
            </a:r>
            <a:r>
              <a:rPr lang="ru-RU" sz="1200" dirty="0"/>
              <a:t>чел. - В среднем прогноз модели отклоняется от фактического количества покупателей менее чем на </a:t>
            </a:r>
            <a:r>
              <a:rPr lang="en-US" sz="1200" dirty="0"/>
              <a:t>0,5</a:t>
            </a:r>
            <a:r>
              <a:rPr lang="ru-RU" sz="1200" dirty="0"/>
              <a:t>. </a:t>
            </a:r>
            <a:endParaRPr sz="1200" dirty="0"/>
          </a:p>
        </p:txBody>
      </p:sp>
      <p:sp>
        <p:nvSpPr>
          <p:cNvPr id="833" name="Google Shape;833;p42"/>
          <p:cNvSpPr txBox="1">
            <a:spLocks noGrp="1"/>
          </p:cNvSpPr>
          <p:nvPr>
            <p:ph type="subTitle" idx="8"/>
          </p:nvPr>
        </p:nvSpPr>
        <p:spPr>
          <a:xfrm>
            <a:off x="4167545" y="956005"/>
            <a:ext cx="3731400" cy="459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Метрики</a:t>
            </a:r>
            <a:endParaRPr b="1" dirty="0"/>
          </a:p>
        </p:txBody>
      </p:sp>
      <p:grpSp>
        <p:nvGrpSpPr>
          <p:cNvPr id="838" name="Google Shape;838;p42"/>
          <p:cNvGrpSpPr/>
          <p:nvPr/>
        </p:nvGrpSpPr>
        <p:grpSpPr>
          <a:xfrm flipH="1">
            <a:off x="48914" y="3860020"/>
            <a:ext cx="1269123" cy="979170"/>
            <a:chOff x="713232" y="1645097"/>
            <a:chExt cx="1269123" cy="979170"/>
          </a:xfrm>
        </p:grpSpPr>
        <p:sp>
          <p:nvSpPr>
            <p:cNvPr id="839" name="Google Shape;839;p42"/>
            <p:cNvSpPr/>
            <p:nvPr/>
          </p:nvSpPr>
          <p:spPr>
            <a:xfrm>
              <a:off x="713232" y="1645097"/>
              <a:ext cx="1269098" cy="979170"/>
            </a:xfrm>
            <a:custGeom>
              <a:avLst/>
              <a:gdLst/>
              <a:ahLst/>
              <a:cxnLst/>
              <a:rect l="l" t="t" r="r" b="b"/>
              <a:pathLst>
                <a:path w="1762636" h="1359958" extrusionOk="0">
                  <a:moveTo>
                    <a:pt x="0" y="0"/>
                  </a:moveTo>
                  <a:lnTo>
                    <a:pt x="1762637" y="0"/>
                  </a:lnTo>
                  <a:lnTo>
                    <a:pt x="1762637" y="1359959"/>
                  </a:lnTo>
                  <a:lnTo>
                    <a:pt x="0" y="1359959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42"/>
            <p:cNvSpPr/>
            <p:nvPr/>
          </p:nvSpPr>
          <p:spPr>
            <a:xfrm>
              <a:off x="757776" y="1689040"/>
              <a:ext cx="1224578" cy="870877"/>
            </a:xfrm>
            <a:custGeom>
              <a:avLst/>
              <a:gdLst/>
              <a:ahLst/>
              <a:cxnLst/>
              <a:rect l="l" t="t" r="r" b="b"/>
              <a:pathLst>
                <a:path w="1700803" h="1209552" extrusionOk="0">
                  <a:moveTo>
                    <a:pt x="1700803" y="0"/>
                  </a:moveTo>
                  <a:lnTo>
                    <a:pt x="1700803" y="1209553"/>
                  </a:lnTo>
                  <a:lnTo>
                    <a:pt x="112349" y="1209553"/>
                  </a:lnTo>
                  <a:cubicBezTo>
                    <a:pt x="50287" y="1209553"/>
                    <a:pt x="0" y="1159266"/>
                    <a:pt x="0" y="1097280"/>
                  </a:cubicBezTo>
                  <a:lnTo>
                    <a:pt x="0" y="112349"/>
                  </a:lnTo>
                  <a:cubicBezTo>
                    <a:pt x="0" y="50363"/>
                    <a:pt x="50287" y="0"/>
                    <a:pt x="112349" y="0"/>
                  </a:cubicBezTo>
                  <a:lnTo>
                    <a:pt x="17008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42"/>
            <p:cNvSpPr/>
            <p:nvPr/>
          </p:nvSpPr>
          <p:spPr>
            <a:xfrm>
              <a:off x="895406" y="1822018"/>
              <a:ext cx="1015268" cy="621368"/>
            </a:xfrm>
            <a:custGeom>
              <a:avLst/>
              <a:gdLst/>
              <a:ahLst/>
              <a:cxnLst/>
              <a:rect l="l" t="t" r="r" b="b"/>
              <a:pathLst>
                <a:path w="1410094" h="863011" extrusionOk="0">
                  <a:moveTo>
                    <a:pt x="0" y="0"/>
                  </a:moveTo>
                  <a:lnTo>
                    <a:pt x="0" y="863011"/>
                  </a:lnTo>
                  <a:lnTo>
                    <a:pt x="1410094" y="86301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42"/>
            <p:cNvSpPr/>
            <p:nvPr/>
          </p:nvSpPr>
          <p:spPr>
            <a:xfrm>
              <a:off x="895406" y="1928400"/>
              <a:ext cx="1015268" cy="515044"/>
            </a:xfrm>
            <a:custGeom>
              <a:avLst/>
              <a:gdLst/>
              <a:ahLst/>
              <a:cxnLst/>
              <a:rect l="l" t="t" r="r" b="b"/>
              <a:pathLst>
                <a:path w="1410094" h="715339" extrusionOk="0">
                  <a:moveTo>
                    <a:pt x="0" y="715340"/>
                  </a:moveTo>
                  <a:lnTo>
                    <a:pt x="328690" y="452053"/>
                  </a:lnTo>
                  <a:lnTo>
                    <a:pt x="454712" y="559085"/>
                  </a:lnTo>
                  <a:lnTo>
                    <a:pt x="905550" y="83027"/>
                  </a:lnTo>
                  <a:lnTo>
                    <a:pt x="1077986" y="318207"/>
                  </a:lnTo>
                  <a:lnTo>
                    <a:pt x="1410094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42"/>
            <p:cNvSpPr/>
            <p:nvPr/>
          </p:nvSpPr>
          <p:spPr>
            <a:xfrm>
              <a:off x="1017604" y="22938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42"/>
            <p:cNvSpPr/>
            <p:nvPr/>
          </p:nvSpPr>
          <p:spPr>
            <a:xfrm>
              <a:off x="1575619" y="203937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42"/>
            <p:cNvSpPr/>
            <p:nvPr/>
          </p:nvSpPr>
          <p:spPr>
            <a:xfrm>
              <a:off x="1819686" y="1961125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42"/>
            <p:cNvSpPr/>
            <p:nvPr/>
          </p:nvSpPr>
          <p:spPr>
            <a:xfrm>
              <a:off x="1293848" y="21982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42"/>
            <p:cNvSpPr/>
            <p:nvPr/>
          </p:nvSpPr>
          <p:spPr>
            <a:xfrm>
              <a:off x="991282" y="1857861"/>
              <a:ext cx="278114" cy="54528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48" name="Google Shape;848;p42"/>
            <p:cNvGrpSpPr/>
            <p:nvPr/>
          </p:nvGrpSpPr>
          <p:grpSpPr>
            <a:xfrm>
              <a:off x="991282" y="1966652"/>
              <a:ext cx="178234" cy="78199"/>
              <a:chOff x="3931369" y="3641467"/>
              <a:chExt cx="247410" cy="108550"/>
            </a:xfrm>
          </p:grpSpPr>
          <p:sp>
            <p:nvSpPr>
              <p:cNvPr id="849" name="Google Shape;849;p42"/>
              <p:cNvSpPr/>
              <p:nvPr/>
            </p:nvSpPr>
            <p:spPr>
              <a:xfrm>
                <a:off x="3931369" y="364146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42"/>
              <p:cNvSpPr/>
              <p:nvPr/>
            </p:nvSpPr>
            <p:spPr>
              <a:xfrm>
                <a:off x="3931369" y="369190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42"/>
              <p:cNvSpPr/>
              <p:nvPr/>
            </p:nvSpPr>
            <p:spPr>
              <a:xfrm>
                <a:off x="3931369" y="3742421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9ED2E24-05A4-8FE2-B75D-1B250D270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34" y="938989"/>
            <a:ext cx="3217404" cy="2439765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1B5707D-3BF3-78DA-4062-AE0B5FFA1D57}"/>
              </a:ext>
            </a:extLst>
          </p:cNvPr>
          <p:cNvSpPr/>
          <p:nvPr/>
        </p:nvSpPr>
        <p:spPr>
          <a:xfrm>
            <a:off x="1866900" y="3223261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D0D88B6-F2F5-776F-8139-ADE648B1F379}"/>
              </a:ext>
            </a:extLst>
          </p:cNvPr>
          <p:cNvSpPr/>
          <p:nvPr/>
        </p:nvSpPr>
        <p:spPr>
          <a:xfrm>
            <a:off x="2325074" y="3226356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6CC4A0C6-E9E8-7EE6-7D31-15FFAF668F15}"/>
              </a:ext>
            </a:extLst>
          </p:cNvPr>
          <p:cNvSpPr/>
          <p:nvPr/>
        </p:nvSpPr>
        <p:spPr>
          <a:xfrm>
            <a:off x="1866900" y="2680531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55994F4-57CF-DFDC-64F1-DF3C24C8958E}"/>
              </a:ext>
            </a:extLst>
          </p:cNvPr>
          <p:cNvSpPr/>
          <p:nvPr/>
        </p:nvSpPr>
        <p:spPr>
          <a:xfrm>
            <a:off x="2829133" y="3225511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A2209CB-4430-92A2-B585-0426C6398F4C}"/>
              </a:ext>
            </a:extLst>
          </p:cNvPr>
          <p:cNvSpPr/>
          <p:nvPr/>
        </p:nvSpPr>
        <p:spPr>
          <a:xfrm>
            <a:off x="2815841" y="2003989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D4C6BC1-DC18-0FBE-7E9C-5A1AF16D788E}"/>
              </a:ext>
            </a:extLst>
          </p:cNvPr>
          <p:cNvSpPr/>
          <p:nvPr/>
        </p:nvSpPr>
        <p:spPr>
          <a:xfrm>
            <a:off x="1866900" y="2821512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8D1234D-36A5-41D7-0D96-951C8057BB36}"/>
              </a:ext>
            </a:extLst>
          </p:cNvPr>
          <p:cNvSpPr/>
          <p:nvPr/>
        </p:nvSpPr>
        <p:spPr>
          <a:xfrm>
            <a:off x="2344999" y="2001099"/>
            <a:ext cx="388620" cy="155494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EEE7007F-E14E-4FE3-F139-D71D5C7E1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5667" y="3514637"/>
            <a:ext cx="2168896" cy="151285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A7CEB8E9-4177-C7E3-E36F-E1A2CFDD45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131" y="3301008"/>
            <a:ext cx="2450814" cy="1661958"/>
          </a:xfrm>
          <a:prstGeom prst="rect">
            <a:avLst/>
          </a:prstGeom>
        </p:spPr>
      </p:pic>
      <p:cxnSp>
        <p:nvCxnSpPr>
          <p:cNvPr id="36" name="Соединитель: изогнутый 35">
            <a:extLst>
              <a:ext uri="{FF2B5EF4-FFF2-40B4-BE49-F238E27FC236}">
                <a16:creationId xmlns:a16="http://schemas.microsoft.com/office/drawing/2014/main" id="{8E5A23A3-0D16-E910-63FA-69C0D98579A4}"/>
              </a:ext>
            </a:extLst>
          </p:cNvPr>
          <p:cNvCxnSpPr>
            <a:stCxn id="832" idx="1"/>
            <a:endCxn id="28" idx="3"/>
          </p:cNvCxnSpPr>
          <p:nvPr/>
        </p:nvCxnSpPr>
        <p:spPr>
          <a:xfrm rot="10800000" flipH="1" flipV="1">
            <a:off x="4167543" y="2224768"/>
            <a:ext cx="367019" cy="2046294"/>
          </a:xfrm>
          <a:prstGeom prst="curvedConnector5">
            <a:avLst>
              <a:gd name="adj1" fmla="val -62286"/>
              <a:gd name="adj2" fmla="val 54239"/>
              <a:gd name="adj3" fmla="val 16228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оединитель: изогнутый 37">
            <a:extLst>
              <a:ext uri="{FF2B5EF4-FFF2-40B4-BE49-F238E27FC236}">
                <a16:creationId xmlns:a16="http://schemas.microsoft.com/office/drawing/2014/main" id="{B1DE489A-866E-C83A-690E-F36DFB9F8739}"/>
              </a:ext>
            </a:extLst>
          </p:cNvPr>
          <p:cNvCxnSpPr>
            <a:cxnSpLocks/>
            <a:endCxn id="34" idx="3"/>
          </p:cNvCxnSpPr>
          <p:nvPr/>
        </p:nvCxnSpPr>
        <p:spPr>
          <a:xfrm rot="5400000">
            <a:off x="7780153" y="3095799"/>
            <a:ext cx="1154981" cy="91739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CB7B87-ABA4-BE69-AA32-F595EFF1ED87}"/>
              </a:ext>
            </a:extLst>
          </p:cNvPr>
          <p:cNvSpPr/>
          <p:nvPr/>
        </p:nvSpPr>
        <p:spPr>
          <a:xfrm>
            <a:off x="2190971" y="3695003"/>
            <a:ext cx="4834669" cy="54690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16" name="Google Shape;1116;p50"/>
          <p:cNvGrpSpPr/>
          <p:nvPr/>
        </p:nvGrpSpPr>
        <p:grpSpPr>
          <a:xfrm>
            <a:off x="8106148" y="2665765"/>
            <a:ext cx="1277710" cy="851703"/>
            <a:chOff x="5491417" y="588600"/>
            <a:chExt cx="1098728" cy="732459"/>
          </a:xfrm>
        </p:grpSpPr>
        <p:sp>
          <p:nvSpPr>
            <p:cNvPr id="1117" name="Google Shape;1117;p50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50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0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50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50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50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0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50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50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50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50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50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50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0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50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50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50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4" name="Google Shape;1154;p50"/>
          <p:cNvGrpSpPr/>
          <p:nvPr/>
        </p:nvGrpSpPr>
        <p:grpSpPr>
          <a:xfrm>
            <a:off x="353739" y="4692512"/>
            <a:ext cx="902056" cy="901976"/>
            <a:chOff x="4246593" y="503852"/>
            <a:chExt cx="902056" cy="901976"/>
          </a:xfrm>
        </p:grpSpPr>
        <p:grpSp>
          <p:nvGrpSpPr>
            <p:cNvPr id="1155" name="Google Shape;1155;p50"/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1156" name="Google Shape;1156;p50"/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50"/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8" name="Google Shape;1158;p50"/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0"/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0" name="Google Shape;1160;p50"/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1161" name="Google Shape;1161;p50"/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50"/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5" name="Google Shape;1099;p49">
            <a:extLst>
              <a:ext uri="{FF2B5EF4-FFF2-40B4-BE49-F238E27FC236}">
                <a16:creationId xmlns:a16="http://schemas.microsoft.com/office/drawing/2014/main" id="{D1652929-D2D8-9622-8466-AC2CCE52A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775462"/>
              </p:ext>
            </p:extLst>
          </p:nvPr>
        </p:nvGraphicFramePr>
        <p:xfrm>
          <a:off x="612009" y="1180488"/>
          <a:ext cx="7091238" cy="3352650"/>
        </p:xfrm>
        <a:graphic>
          <a:graphicData uri="http://schemas.openxmlformats.org/drawingml/2006/table">
            <a:tbl>
              <a:tblPr>
                <a:noFill/>
                <a:tableStyleId>{AAD4FF98-227F-452A-84B2-AA045A303433}</a:tableStyleId>
              </a:tblPr>
              <a:tblGrid>
                <a:gridCol w="16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267">
                  <a:extLst>
                    <a:ext uri="{9D8B030D-6E8A-4147-A177-3AD203B41FA5}">
                      <a16:colId xmlns:a16="http://schemas.microsoft.com/office/drawing/2014/main" val="3563473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США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Великобритания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Франция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Германия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Социальные сети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2064378.27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Реклама у блогеров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2029717.03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1998664.44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2006085.47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2014117.95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36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Контекстная реклама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1930941.71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1855322.92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1826805.43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1879822.39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00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Email-</a:t>
                      </a:r>
                      <a:r>
                        <a:rPr lang="ru-RU" sz="16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рассылки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1976019.45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1982852.13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2001298.14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$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Google Shape;825;p42">
            <a:extLst>
              <a:ext uri="{FF2B5EF4-FFF2-40B4-BE49-F238E27FC236}">
                <a16:creationId xmlns:a16="http://schemas.microsoft.com/office/drawing/2014/main" id="{D3A32797-CDA9-4F10-C2D2-67F13AA799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924" y="110028"/>
            <a:ext cx="8424000" cy="994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/>
              <a:t>Предсказание доходов при максимальных вливаниях в один канал</a:t>
            </a:r>
            <a:endParaRPr sz="3000" b="1" dirty="0"/>
          </a:p>
        </p:txBody>
      </p:sp>
    </p:spTree>
    <p:extLst>
      <p:ext uri="{BB962C8B-B14F-4D97-AF65-F5344CB8AC3E}">
        <p14:creationId xmlns:p14="http://schemas.microsoft.com/office/powerpoint/2010/main" val="849783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CB7B87-ABA4-BE69-AA32-F595EFF1ED87}"/>
              </a:ext>
            </a:extLst>
          </p:cNvPr>
          <p:cNvSpPr/>
          <p:nvPr/>
        </p:nvSpPr>
        <p:spPr>
          <a:xfrm>
            <a:off x="2190971" y="3695003"/>
            <a:ext cx="4834669" cy="54690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116" name="Google Shape;1116;p50"/>
          <p:cNvGrpSpPr/>
          <p:nvPr/>
        </p:nvGrpSpPr>
        <p:grpSpPr>
          <a:xfrm>
            <a:off x="8106148" y="2665765"/>
            <a:ext cx="1277710" cy="851703"/>
            <a:chOff x="5491417" y="588600"/>
            <a:chExt cx="1098728" cy="732459"/>
          </a:xfrm>
        </p:grpSpPr>
        <p:sp>
          <p:nvSpPr>
            <p:cNvPr id="1117" name="Google Shape;1117;p50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50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0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50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50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50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0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50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50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50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50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50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50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0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50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50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50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4" name="Google Shape;1154;p50"/>
          <p:cNvGrpSpPr/>
          <p:nvPr/>
        </p:nvGrpSpPr>
        <p:grpSpPr>
          <a:xfrm>
            <a:off x="353739" y="4692512"/>
            <a:ext cx="902056" cy="901976"/>
            <a:chOff x="4246593" y="503852"/>
            <a:chExt cx="902056" cy="901976"/>
          </a:xfrm>
        </p:grpSpPr>
        <p:grpSp>
          <p:nvGrpSpPr>
            <p:cNvPr id="1155" name="Google Shape;1155;p50"/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1156" name="Google Shape;1156;p50"/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50"/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8" name="Google Shape;1158;p50"/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0"/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0" name="Google Shape;1160;p50"/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1161" name="Google Shape;1161;p50"/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50"/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aphicFrame>
        <p:nvGraphicFramePr>
          <p:cNvPr id="5" name="Google Shape;1099;p49">
            <a:extLst>
              <a:ext uri="{FF2B5EF4-FFF2-40B4-BE49-F238E27FC236}">
                <a16:creationId xmlns:a16="http://schemas.microsoft.com/office/drawing/2014/main" id="{D1652929-D2D8-9622-8466-AC2CCE52A4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7158864"/>
              </p:ext>
            </p:extLst>
          </p:nvPr>
        </p:nvGraphicFramePr>
        <p:xfrm>
          <a:off x="612009" y="1180488"/>
          <a:ext cx="7091238" cy="3352650"/>
        </p:xfrm>
        <a:graphic>
          <a:graphicData uri="http://schemas.openxmlformats.org/drawingml/2006/table">
            <a:tbl>
              <a:tblPr>
                <a:noFill/>
                <a:tableStyleId>{AAD4FF98-227F-452A-84B2-AA045A303433}</a:tableStyleId>
              </a:tblPr>
              <a:tblGrid>
                <a:gridCol w="16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97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6267">
                  <a:extLst>
                    <a:ext uri="{9D8B030D-6E8A-4147-A177-3AD203B41FA5}">
                      <a16:colId xmlns:a16="http://schemas.microsoft.com/office/drawing/2014/main" val="3563473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США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Великобритания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Франция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Германия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Социальные сети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377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Реклама у блогеров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371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373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369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370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36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Контекстная реклама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367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362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358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352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00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Email-</a:t>
                      </a: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рассылки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Нет данных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387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379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200" b="0" i="0" u="none" strike="noStrike" cap="none" dirty="0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Arial"/>
                          <a:sym typeface="Arial"/>
                        </a:rPr>
                        <a:t>383</a:t>
                      </a:r>
                      <a:endParaRPr sz="1200" b="0" i="0" u="none" strike="noStrike" cap="none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Google Shape;825;p42">
            <a:extLst>
              <a:ext uri="{FF2B5EF4-FFF2-40B4-BE49-F238E27FC236}">
                <a16:creationId xmlns:a16="http://schemas.microsoft.com/office/drawing/2014/main" id="{D3A32797-CDA9-4F10-C2D2-67F13AA799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3924" y="110028"/>
            <a:ext cx="8424000" cy="99476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b="1" dirty="0"/>
              <a:t>Предсказание количества пользователей при максимальных вливаниях в один канал</a:t>
            </a:r>
            <a:endParaRPr sz="3000" b="1" dirty="0"/>
          </a:p>
        </p:txBody>
      </p:sp>
    </p:spTree>
    <p:extLst>
      <p:ext uri="{BB962C8B-B14F-4D97-AF65-F5344CB8AC3E}">
        <p14:creationId xmlns:p14="http://schemas.microsoft.com/office/powerpoint/2010/main" val="67621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7"/>
          <p:cNvSpPr txBox="1">
            <a:spLocks noGrp="1"/>
          </p:cNvSpPr>
          <p:nvPr>
            <p:ph type="title"/>
          </p:nvPr>
        </p:nvSpPr>
        <p:spPr>
          <a:xfrm>
            <a:off x="586740" y="10268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/>
              <a:t>Дашборд</a:t>
            </a:r>
            <a:endParaRPr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CE76258-2452-CB10-A329-97E12D292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540" y="156360"/>
            <a:ext cx="4572000" cy="209899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9F946F8-F332-0934-40F7-08B7C1FEF7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460" y="1581581"/>
            <a:ext cx="4480560" cy="215267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270F5-AEFE-E15B-9B7C-DFE8B55465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740" y="2704722"/>
            <a:ext cx="4229100" cy="2059059"/>
          </a:xfrm>
          <a:prstGeom prst="rect">
            <a:avLst/>
          </a:prstGeom>
        </p:spPr>
      </p:pic>
      <p:sp>
        <p:nvSpPr>
          <p:cNvPr id="9" name="Google Shape;484;p32">
            <a:extLst>
              <a:ext uri="{FF2B5EF4-FFF2-40B4-BE49-F238E27FC236}">
                <a16:creationId xmlns:a16="http://schemas.microsoft.com/office/drawing/2014/main" id="{FF28BC15-EE48-EDAB-3FC3-DB2B6E54C671}"/>
              </a:ext>
            </a:extLst>
          </p:cNvPr>
          <p:cNvSpPr txBox="1">
            <a:spLocks/>
          </p:cNvSpPr>
          <p:nvPr/>
        </p:nvSpPr>
        <p:spPr>
          <a:xfrm>
            <a:off x="476362" y="710761"/>
            <a:ext cx="3619277" cy="1238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Был разработан </a:t>
            </a:r>
            <a:r>
              <a:rPr lang="ru-RU" sz="1200" i="1" u="sng" dirty="0" err="1">
                <a:solidFill>
                  <a:srgbClr val="515183"/>
                </a:solidFill>
                <a:latin typeface="Inter"/>
                <a:ea typeface="Inter"/>
                <a:sym typeface="Inter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дашборд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 в </a:t>
            </a:r>
            <a:r>
              <a:rPr lang="en-US" sz="1200" dirty="0" err="1">
                <a:solidFill>
                  <a:schemeClr val="dk1"/>
                </a:solidFill>
                <a:latin typeface="Inter"/>
                <a:ea typeface="Inter"/>
                <a:sym typeface="Inter"/>
              </a:rPr>
              <a:t>DataLens</a:t>
            </a: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, в котором отображены индикаторы, графики и диаграммы</a:t>
            </a:r>
            <a:b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</a:br>
            <a:endParaRPr lang="en-US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</p:txBody>
      </p:sp>
      <p:sp>
        <p:nvSpPr>
          <p:cNvPr id="10" name="Google Shape;484;p32">
            <a:extLst>
              <a:ext uri="{FF2B5EF4-FFF2-40B4-BE49-F238E27FC236}">
                <a16:creationId xmlns:a16="http://schemas.microsoft.com/office/drawing/2014/main" id="{041525EB-EB14-CB18-F8F7-44A299DA6A2E}"/>
              </a:ext>
            </a:extLst>
          </p:cNvPr>
          <p:cNvSpPr txBox="1">
            <a:spLocks/>
          </p:cNvSpPr>
          <p:nvPr/>
        </p:nvSpPr>
        <p:spPr>
          <a:xfrm>
            <a:off x="586740" y="3647209"/>
            <a:ext cx="3619277" cy="1238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  <a:sym typeface="Inter"/>
              </a:rPr>
              <a:t>Данные представлены в формате, удобном для предоставления заказчику, основные статистики и тренды выделены на чартах, присутствует возможность фильтрации по некоторым параметрам</a:t>
            </a:r>
            <a:endParaRPr lang="en-US" sz="1200" dirty="0">
              <a:solidFill>
                <a:schemeClr val="dk1"/>
              </a:solidFill>
              <a:latin typeface="Inter"/>
              <a:ea typeface="Inter"/>
              <a:sym typeface="Inter"/>
            </a:endParaRPr>
          </a:p>
        </p:txBody>
      </p:sp>
      <p:grpSp>
        <p:nvGrpSpPr>
          <p:cNvPr id="11" name="Google Shape;721;p39">
            <a:extLst>
              <a:ext uri="{FF2B5EF4-FFF2-40B4-BE49-F238E27FC236}">
                <a16:creationId xmlns:a16="http://schemas.microsoft.com/office/drawing/2014/main" id="{C84FA1AF-BFE0-AE03-B4D1-CEEC84F2736E}"/>
              </a:ext>
            </a:extLst>
          </p:cNvPr>
          <p:cNvGrpSpPr/>
          <p:nvPr/>
        </p:nvGrpSpPr>
        <p:grpSpPr>
          <a:xfrm flipH="1">
            <a:off x="8447373" y="2377611"/>
            <a:ext cx="1393254" cy="851132"/>
            <a:chOff x="3577367" y="1677509"/>
            <a:chExt cx="1393254" cy="851132"/>
          </a:xfrm>
        </p:grpSpPr>
        <p:sp>
          <p:nvSpPr>
            <p:cNvPr id="12" name="Google Shape;722;p39">
              <a:extLst>
                <a:ext uri="{FF2B5EF4-FFF2-40B4-BE49-F238E27FC236}">
                  <a16:creationId xmlns:a16="http://schemas.microsoft.com/office/drawing/2014/main" id="{C9DFA6B2-F3A3-F463-B913-E01C6E864A51}"/>
                </a:ext>
              </a:extLst>
            </p:cNvPr>
            <p:cNvSpPr/>
            <p:nvPr/>
          </p:nvSpPr>
          <p:spPr>
            <a:xfrm>
              <a:off x="3605409" y="1677509"/>
              <a:ext cx="1365212" cy="851132"/>
            </a:xfrm>
            <a:custGeom>
              <a:avLst/>
              <a:gdLst/>
              <a:ahLst/>
              <a:cxnLst/>
              <a:rect l="l" t="t" r="r" b="b"/>
              <a:pathLst>
                <a:path w="2829455" h="1764004" extrusionOk="0">
                  <a:moveTo>
                    <a:pt x="2699484" y="1764004"/>
                  </a:moveTo>
                  <a:lnTo>
                    <a:pt x="129972" y="1764004"/>
                  </a:lnTo>
                  <a:cubicBezTo>
                    <a:pt x="58187" y="1764004"/>
                    <a:pt x="0" y="1705817"/>
                    <a:pt x="0" y="1634032"/>
                  </a:cubicBezTo>
                  <a:lnTo>
                    <a:pt x="0" y="129972"/>
                  </a:lnTo>
                  <a:cubicBezTo>
                    <a:pt x="0" y="58187"/>
                    <a:pt x="58187" y="0"/>
                    <a:pt x="129972" y="0"/>
                  </a:cubicBezTo>
                  <a:lnTo>
                    <a:pt x="2699484" y="0"/>
                  </a:lnTo>
                  <a:cubicBezTo>
                    <a:pt x="2771268" y="0"/>
                    <a:pt x="2829456" y="58187"/>
                    <a:pt x="2829456" y="129972"/>
                  </a:cubicBezTo>
                  <a:lnTo>
                    <a:pt x="2829456" y="1634032"/>
                  </a:lnTo>
                  <a:cubicBezTo>
                    <a:pt x="2829379" y="1705817"/>
                    <a:pt x="2771192" y="1764004"/>
                    <a:pt x="2699484" y="176400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723;p39">
              <a:extLst>
                <a:ext uri="{FF2B5EF4-FFF2-40B4-BE49-F238E27FC236}">
                  <a16:creationId xmlns:a16="http://schemas.microsoft.com/office/drawing/2014/main" id="{74B16BB3-87AB-7666-FF96-7499B906AFB1}"/>
                </a:ext>
              </a:extLst>
            </p:cNvPr>
            <p:cNvSpPr/>
            <p:nvPr/>
          </p:nvSpPr>
          <p:spPr>
            <a:xfrm>
              <a:off x="4660956" y="2269904"/>
              <a:ext cx="172521" cy="33830"/>
            </a:xfrm>
            <a:custGeom>
              <a:avLst/>
              <a:gdLst/>
              <a:ahLst/>
              <a:cxnLst/>
              <a:rect l="l" t="t" r="r" b="b"/>
              <a:pathLst>
                <a:path w="357556" h="70113" extrusionOk="0">
                  <a:moveTo>
                    <a:pt x="0" y="0"/>
                  </a:moveTo>
                  <a:lnTo>
                    <a:pt x="357556" y="0"/>
                  </a:lnTo>
                  <a:lnTo>
                    <a:pt x="357556" y="70113"/>
                  </a:lnTo>
                  <a:lnTo>
                    <a:pt x="0" y="70113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724;p39">
              <a:extLst>
                <a:ext uri="{FF2B5EF4-FFF2-40B4-BE49-F238E27FC236}">
                  <a16:creationId xmlns:a16="http://schemas.microsoft.com/office/drawing/2014/main" id="{F9539571-360B-DB9B-166F-6335EB33D690}"/>
                </a:ext>
              </a:extLst>
            </p:cNvPr>
            <p:cNvSpPr/>
            <p:nvPr/>
          </p:nvSpPr>
          <p:spPr>
            <a:xfrm>
              <a:off x="4660956" y="2102017"/>
              <a:ext cx="172520" cy="127878"/>
            </a:xfrm>
            <a:custGeom>
              <a:avLst/>
              <a:gdLst/>
              <a:ahLst/>
              <a:cxnLst/>
              <a:rect l="l" t="t" r="r" b="b"/>
              <a:pathLst>
                <a:path w="357555" h="265033" extrusionOk="0">
                  <a:moveTo>
                    <a:pt x="294583" y="265034"/>
                  </a:moveTo>
                  <a:lnTo>
                    <a:pt x="62973" y="265034"/>
                  </a:lnTo>
                  <a:cubicBezTo>
                    <a:pt x="28182" y="265034"/>
                    <a:pt x="0" y="236851"/>
                    <a:pt x="0" y="202061"/>
                  </a:cubicBezTo>
                  <a:lnTo>
                    <a:pt x="0" y="62973"/>
                  </a:lnTo>
                  <a:cubicBezTo>
                    <a:pt x="0" y="28182"/>
                    <a:pt x="28182" y="0"/>
                    <a:pt x="62973" y="0"/>
                  </a:cubicBezTo>
                  <a:lnTo>
                    <a:pt x="294583" y="0"/>
                  </a:lnTo>
                  <a:cubicBezTo>
                    <a:pt x="329374" y="0"/>
                    <a:pt x="357556" y="28182"/>
                    <a:pt x="357556" y="62973"/>
                  </a:cubicBezTo>
                  <a:lnTo>
                    <a:pt x="357556" y="202061"/>
                  </a:lnTo>
                  <a:cubicBezTo>
                    <a:pt x="357556" y="236851"/>
                    <a:pt x="329374" y="265034"/>
                    <a:pt x="294583" y="26503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725;p39">
              <a:extLst>
                <a:ext uri="{FF2B5EF4-FFF2-40B4-BE49-F238E27FC236}">
                  <a16:creationId xmlns:a16="http://schemas.microsoft.com/office/drawing/2014/main" id="{9717D47A-AE86-FE53-8898-5505CC2E2B0D}"/>
                </a:ext>
              </a:extLst>
            </p:cNvPr>
            <p:cNvSpPr/>
            <p:nvPr/>
          </p:nvSpPr>
          <p:spPr>
            <a:xfrm>
              <a:off x="4660956" y="2337139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726;p39">
              <a:extLst>
                <a:ext uri="{FF2B5EF4-FFF2-40B4-BE49-F238E27FC236}">
                  <a16:creationId xmlns:a16="http://schemas.microsoft.com/office/drawing/2014/main" id="{1785BFD8-18D1-7D9B-CCA5-1D1841674AB0}"/>
                </a:ext>
              </a:extLst>
            </p:cNvPr>
            <p:cNvSpPr/>
            <p:nvPr/>
          </p:nvSpPr>
          <p:spPr>
            <a:xfrm>
              <a:off x="4660956" y="2359661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727;p39">
              <a:extLst>
                <a:ext uri="{FF2B5EF4-FFF2-40B4-BE49-F238E27FC236}">
                  <a16:creationId xmlns:a16="http://schemas.microsoft.com/office/drawing/2014/main" id="{012B49D9-AF87-1265-5D74-40D68709389D}"/>
                </a:ext>
              </a:extLst>
            </p:cNvPr>
            <p:cNvSpPr/>
            <p:nvPr/>
          </p:nvSpPr>
          <p:spPr>
            <a:xfrm>
              <a:off x="4660956" y="2382146"/>
              <a:ext cx="110506" cy="3665"/>
            </a:xfrm>
            <a:custGeom>
              <a:avLst/>
              <a:gdLst/>
              <a:ahLst/>
              <a:cxnLst/>
              <a:rect l="l" t="t" r="r" b="b"/>
              <a:pathLst>
                <a:path w="229027" h="7596" extrusionOk="0">
                  <a:moveTo>
                    <a:pt x="0" y="0"/>
                  </a:moveTo>
                  <a:lnTo>
                    <a:pt x="229027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728;p39">
              <a:extLst>
                <a:ext uri="{FF2B5EF4-FFF2-40B4-BE49-F238E27FC236}">
                  <a16:creationId xmlns:a16="http://schemas.microsoft.com/office/drawing/2014/main" id="{318F1309-A4D8-AE69-81F2-FE893215ECA3}"/>
                </a:ext>
              </a:extLst>
            </p:cNvPr>
            <p:cNvSpPr/>
            <p:nvPr/>
          </p:nvSpPr>
          <p:spPr>
            <a:xfrm>
              <a:off x="4561547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729;p39">
              <a:extLst>
                <a:ext uri="{FF2B5EF4-FFF2-40B4-BE49-F238E27FC236}">
                  <a16:creationId xmlns:a16="http://schemas.microsoft.com/office/drawing/2014/main" id="{114F087A-48AA-C01E-F025-CE5A96DE3BF6}"/>
                </a:ext>
              </a:extLst>
            </p:cNvPr>
            <p:cNvSpPr/>
            <p:nvPr/>
          </p:nvSpPr>
          <p:spPr>
            <a:xfrm>
              <a:off x="4402508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730;p39">
              <a:extLst>
                <a:ext uri="{FF2B5EF4-FFF2-40B4-BE49-F238E27FC236}">
                  <a16:creationId xmlns:a16="http://schemas.microsoft.com/office/drawing/2014/main" id="{07031476-DB76-ACEB-7D4B-6E01F7961A96}"/>
                </a:ext>
              </a:extLst>
            </p:cNvPr>
            <p:cNvSpPr/>
            <p:nvPr/>
          </p:nvSpPr>
          <p:spPr>
            <a:xfrm>
              <a:off x="4243504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731;p39">
              <a:extLst>
                <a:ext uri="{FF2B5EF4-FFF2-40B4-BE49-F238E27FC236}">
                  <a16:creationId xmlns:a16="http://schemas.microsoft.com/office/drawing/2014/main" id="{EA2FD3B0-FA13-D5AA-61ED-A6E3C59EA028}"/>
                </a:ext>
              </a:extLst>
            </p:cNvPr>
            <p:cNvSpPr/>
            <p:nvPr/>
          </p:nvSpPr>
          <p:spPr>
            <a:xfrm>
              <a:off x="408446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732;p39">
              <a:extLst>
                <a:ext uri="{FF2B5EF4-FFF2-40B4-BE49-F238E27FC236}">
                  <a16:creationId xmlns:a16="http://schemas.microsoft.com/office/drawing/2014/main" id="{D11CA369-B4FE-C6A3-7A58-9ECD3F00D325}"/>
                </a:ext>
              </a:extLst>
            </p:cNvPr>
            <p:cNvSpPr/>
            <p:nvPr/>
          </p:nvSpPr>
          <p:spPr>
            <a:xfrm>
              <a:off x="3925425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733;p39">
              <a:extLst>
                <a:ext uri="{FF2B5EF4-FFF2-40B4-BE49-F238E27FC236}">
                  <a16:creationId xmlns:a16="http://schemas.microsoft.com/office/drawing/2014/main" id="{A2CD3717-7AF4-E7E3-6E4D-810BB4FBC264}"/>
                </a:ext>
              </a:extLst>
            </p:cNvPr>
            <p:cNvSpPr/>
            <p:nvPr/>
          </p:nvSpPr>
          <p:spPr>
            <a:xfrm>
              <a:off x="3766423" y="1677509"/>
              <a:ext cx="3665" cy="851131"/>
            </a:xfrm>
            <a:custGeom>
              <a:avLst/>
              <a:gdLst/>
              <a:ahLst/>
              <a:cxnLst/>
              <a:rect l="l" t="t" r="r" b="b"/>
              <a:pathLst>
                <a:path w="7596" h="1764003" extrusionOk="0">
                  <a:moveTo>
                    <a:pt x="0" y="0"/>
                  </a:moveTo>
                  <a:lnTo>
                    <a:pt x="0" y="1764004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734;p39">
              <a:extLst>
                <a:ext uri="{FF2B5EF4-FFF2-40B4-BE49-F238E27FC236}">
                  <a16:creationId xmlns:a16="http://schemas.microsoft.com/office/drawing/2014/main" id="{D60DDAAE-7FDB-921E-B372-1F0D397DC61D}"/>
                </a:ext>
              </a:extLst>
            </p:cNvPr>
            <p:cNvSpPr/>
            <p:nvPr/>
          </p:nvSpPr>
          <p:spPr>
            <a:xfrm>
              <a:off x="3605409" y="1916202"/>
              <a:ext cx="958485" cy="400277"/>
            </a:xfrm>
            <a:custGeom>
              <a:avLst/>
              <a:gdLst/>
              <a:ahLst/>
              <a:cxnLst/>
              <a:rect l="l" t="t" r="r" b="b"/>
              <a:pathLst>
                <a:path w="1986498" h="829589" extrusionOk="0">
                  <a:moveTo>
                    <a:pt x="0" y="607196"/>
                  </a:moveTo>
                  <a:lnTo>
                    <a:pt x="299065" y="409465"/>
                  </a:lnTo>
                  <a:cubicBezTo>
                    <a:pt x="320486" y="395336"/>
                    <a:pt x="348289" y="395716"/>
                    <a:pt x="369330" y="410377"/>
                  </a:cubicBezTo>
                  <a:lnTo>
                    <a:pt x="590229" y="565112"/>
                  </a:lnTo>
                  <a:cubicBezTo>
                    <a:pt x="621754" y="587142"/>
                    <a:pt x="665508" y="575747"/>
                    <a:pt x="682220" y="541184"/>
                  </a:cubicBezTo>
                  <a:lnTo>
                    <a:pt x="926896" y="35273"/>
                  </a:lnTo>
                  <a:cubicBezTo>
                    <a:pt x="951508" y="-15622"/>
                    <a:pt x="1025647" y="-10228"/>
                    <a:pt x="1042663" y="43629"/>
                  </a:cubicBezTo>
                  <a:lnTo>
                    <a:pt x="1277084" y="785936"/>
                  </a:lnTo>
                  <a:cubicBezTo>
                    <a:pt x="1294251" y="840401"/>
                    <a:pt x="1369454" y="845111"/>
                    <a:pt x="1393306" y="793228"/>
                  </a:cubicBezTo>
                  <a:lnTo>
                    <a:pt x="1610635" y="321424"/>
                  </a:lnTo>
                  <a:cubicBezTo>
                    <a:pt x="1630765" y="277670"/>
                    <a:pt x="1690776" y="272277"/>
                    <a:pt x="1718426" y="311701"/>
                  </a:cubicBezTo>
                  <a:lnTo>
                    <a:pt x="1986499" y="693793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735;p39">
              <a:extLst>
                <a:ext uri="{FF2B5EF4-FFF2-40B4-BE49-F238E27FC236}">
                  <a16:creationId xmlns:a16="http://schemas.microsoft.com/office/drawing/2014/main" id="{795E77C8-B959-27E5-CFC3-4B24FD5043BF}"/>
                </a:ext>
              </a:extLst>
            </p:cNvPr>
            <p:cNvSpPr/>
            <p:nvPr/>
          </p:nvSpPr>
          <p:spPr>
            <a:xfrm>
              <a:off x="3972662" y="2024069"/>
              <a:ext cx="45595" cy="45595"/>
            </a:xfrm>
            <a:custGeom>
              <a:avLst/>
              <a:gdLst/>
              <a:ahLst/>
              <a:cxnLst/>
              <a:rect l="l" t="t" r="r" b="b"/>
              <a:pathLst>
                <a:path w="94497" h="94497" extrusionOk="0">
                  <a:moveTo>
                    <a:pt x="94497" y="47249"/>
                  </a:moveTo>
                  <a:cubicBezTo>
                    <a:pt x="94497" y="73344"/>
                    <a:pt x="73343" y="94498"/>
                    <a:pt x="47249" y="94498"/>
                  </a:cubicBezTo>
                  <a:cubicBezTo>
                    <a:pt x="21154" y="94498"/>
                    <a:pt x="0" y="73344"/>
                    <a:pt x="0" y="47249"/>
                  </a:cubicBezTo>
                  <a:cubicBezTo>
                    <a:pt x="0" y="21154"/>
                    <a:pt x="21154" y="0"/>
                    <a:pt x="47249" y="0"/>
                  </a:cubicBezTo>
                  <a:cubicBezTo>
                    <a:pt x="73343" y="0"/>
                    <a:pt x="94497" y="21154"/>
                    <a:pt x="94497" y="472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736;p39">
              <a:extLst>
                <a:ext uri="{FF2B5EF4-FFF2-40B4-BE49-F238E27FC236}">
                  <a16:creationId xmlns:a16="http://schemas.microsoft.com/office/drawing/2014/main" id="{8771F5CA-06E6-74B3-0ED8-08EADF482654}"/>
                </a:ext>
              </a:extLst>
            </p:cNvPr>
            <p:cNvSpPr/>
            <p:nvPr/>
          </p:nvSpPr>
          <p:spPr>
            <a:xfrm>
              <a:off x="3664089" y="1827628"/>
              <a:ext cx="317443" cy="189754"/>
            </a:xfrm>
            <a:custGeom>
              <a:avLst/>
              <a:gdLst/>
              <a:ahLst/>
              <a:cxnLst/>
              <a:rect l="l" t="t" r="r" b="b"/>
              <a:pathLst>
                <a:path w="657912" h="393272" extrusionOk="0">
                  <a:moveTo>
                    <a:pt x="622286" y="386954"/>
                  </a:moveTo>
                  <a:lnTo>
                    <a:pt x="552324" y="315397"/>
                  </a:lnTo>
                  <a:lnTo>
                    <a:pt x="50059" y="315397"/>
                  </a:lnTo>
                  <a:cubicBezTo>
                    <a:pt x="22409" y="315397"/>
                    <a:pt x="0" y="292988"/>
                    <a:pt x="0" y="265337"/>
                  </a:cubicBezTo>
                  <a:lnTo>
                    <a:pt x="0" y="50059"/>
                  </a:lnTo>
                  <a:cubicBezTo>
                    <a:pt x="0" y="22409"/>
                    <a:pt x="22409" y="0"/>
                    <a:pt x="50059" y="0"/>
                  </a:cubicBezTo>
                  <a:lnTo>
                    <a:pt x="607853" y="0"/>
                  </a:lnTo>
                  <a:cubicBezTo>
                    <a:pt x="635503" y="0"/>
                    <a:pt x="657912" y="22409"/>
                    <a:pt x="657912" y="50059"/>
                  </a:cubicBezTo>
                  <a:lnTo>
                    <a:pt x="657912" y="315397"/>
                  </a:lnTo>
                  <a:lnTo>
                    <a:pt x="657912" y="372445"/>
                  </a:lnTo>
                  <a:cubicBezTo>
                    <a:pt x="657912" y="391056"/>
                    <a:pt x="635275" y="400323"/>
                    <a:pt x="622286" y="38695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737;p39">
              <a:extLst>
                <a:ext uri="{FF2B5EF4-FFF2-40B4-BE49-F238E27FC236}">
                  <a16:creationId xmlns:a16="http://schemas.microsoft.com/office/drawing/2014/main" id="{379D9B58-7D5A-F719-7F71-F7B1C206AA8E}"/>
                </a:ext>
              </a:extLst>
            </p:cNvPr>
            <p:cNvSpPr/>
            <p:nvPr/>
          </p:nvSpPr>
          <p:spPr>
            <a:xfrm>
              <a:off x="3577367" y="242916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738;p39">
              <a:extLst>
                <a:ext uri="{FF2B5EF4-FFF2-40B4-BE49-F238E27FC236}">
                  <a16:creationId xmlns:a16="http://schemas.microsoft.com/office/drawing/2014/main" id="{96028C05-B921-5A59-4DC7-1DA32875F599}"/>
                </a:ext>
              </a:extLst>
            </p:cNvPr>
            <p:cNvSpPr/>
            <p:nvPr/>
          </p:nvSpPr>
          <p:spPr>
            <a:xfrm>
              <a:off x="3577367" y="231823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739;p39">
              <a:extLst>
                <a:ext uri="{FF2B5EF4-FFF2-40B4-BE49-F238E27FC236}">
                  <a16:creationId xmlns:a16="http://schemas.microsoft.com/office/drawing/2014/main" id="{98D111FE-9222-1E88-FADD-A370CEC5DE0B}"/>
                </a:ext>
              </a:extLst>
            </p:cNvPr>
            <p:cNvSpPr/>
            <p:nvPr/>
          </p:nvSpPr>
          <p:spPr>
            <a:xfrm>
              <a:off x="3577367" y="220734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740;p39">
              <a:extLst>
                <a:ext uri="{FF2B5EF4-FFF2-40B4-BE49-F238E27FC236}">
                  <a16:creationId xmlns:a16="http://schemas.microsoft.com/office/drawing/2014/main" id="{AB3703DE-A1CD-CC73-47ED-CC1FBD2890F4}"/>
                </a:ext>
              </a:extLst>
            </p:cNvPr>
            <p:cNvSpPr/>
            <p:nvPr/>
          </p:nvSpPr>
          <p:spPr>
            <a:xfrm>
              <a:off x="3577367" y="2096423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741;p39">
              <a:extLst>
                <a:ext uri="{FF2B5EF4-FFF2-40B4-BE49-F238E27FC236}">
                  <a16:creationId xmlns:a16="http://schemas.microsoft.com/office/drawing/2014/main" id="{C81977BE-2050-1864-C352-923A2F019B48}"/>
                </a:ext>
              </a:extLst>
            </p:cNvPr>
            <p:cNvSpPr/>
            <p:nvPr/>
          </p:nvSpPr>
          <p:spPr>
            <a:xfrm>
              <a:off x="3577367" y="1985534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742;p39">
              <a:extLst>
                <a:ext uri="{FF2B5EF4-FFF2-40B4-BE49-F238E27FC236}">
                  <a16:creationId xmlns:a16="http://schemas.microsoft.com/office/drawing/2014/main" id="{65B69A02-1163-2CC6-75A2-F07BCB98A49E}"/>
                </a:ext>
              </a:extLst>
            </p:cNvPr>
            <p:cNvSpPr/>
            <p:nvPr/>
          </p:nvSpPr>
          <p:spPr>
            <a:xfrm>
              <a:off x="3577367" y="1874608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743;p39">
              <a:extLst>
                <a:ext uri="{FF2B5EF4-FFF2-40B4-BE49-F238E27FC236}">
                  <a16:creationId xmlns:a16="http://schemas.microsoft.com/office/drawing/2014/main" id="{2ABF3496-DA13-A6A7-2541-9120C66E3C67}"/>
                </a:ext>
              </a:extLst>
            </p:cNvPr>
            <p:cNvSpPr/>
            <p:nvPr/>
          </p:nvSpPr>
          <p:spPr>
            <a:xfrm>
              <a:off x="3577367" y="1763720"/>
              <a:ext cx="53842" cy="3665"/>
            </a:xfrm>
            <a:custGeom>
              <a:avLst/>
              <a:gdLst/>
              <a:ahLst/>
              <a:cxnLst/>
              <a:rect l="l" t="t" r="r" b="b"/>
              <a:pathLst>
                <a:path w="111589" h="7596" extrusionOk="0">
                  <a:moveTo>
                    <a:pt x="0" y="0"/>
                  </a:moveTo>
                  <a:lnTo>
                    <a:pt x="11158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744;p39">
              <a:extLst>
                <a:ext uri="{FF2B5EF4-FFF2-40B4-BE49-F238E27FC236}">
                  <a16:creationId xmlns:a16="http://schemas.microsoft.com/office/drawing/2014/main" id="{D81932ED-A46C-04A5-907E-AD878CED9881}"/>
                </a:ext>
              </a:extLst>
            </p:cNvPr>
            <p:cNvSpPr/>
            <p:nvPr/>
          </p:nvSpPr>
          <p:spPr>
            <a:xfrm>
              <a:off x="4293447" y="2127573"/>
              <a:ext cx="83273" cy="83273"/>
            </a:xfrm>
            <a:custGeom>
              <a:avLst/>
              <a:gdLst/>
              <a:ahLst/>
              <a:cxnLst/>
              <a:rect l="l" t="t" r="r" b="b"/>
              <a:pathLst>
                <a:path w="172587" h="172587" extrusionOk="0">
                  <a:moveTo>
                    <a:pt x="172587" y="86294"/>
                  </a:moveTo>
                  <a:cubicBezTo>
                    <a:pt x="172587" y="133952"/>
                    <a:pt x="133952" y="172587"/>
                    <a:pt x="86293" y="172587"/>
                  </a:cubicBezTo>
                  <a:cubicBezTo>
                    <a:pt x="38635" y="172587"/>
                    <a:pt x="0" y="133952"/>
                    <a:pt x="0" y="86294"/>
                  </a:cubicBezTo>
                  <a:cubicBezTo>
                    <a:pt x="0" y="38635"/>
                    <a:pt x="38635" y="0"/>
                    <a:pt x="86293" y="0"/>
                  </a:cubicBezTo>
                  <a:cubicBezTo>
                    <a:pt x="133952" y="0"/>
                    <a:pt x="172587" y="38635"/>
                    <a:pt x="172587" y="86294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745;p39">
              <a:extLst>
                <a:ext uri="{FF2B5EF4-FFF2-40B4-BE49-F238E27FC236}">
                  <a16:creationId xmlns:a16="http://schemas.microsoft.com/office/drawing/2014/main" id="{D670FA9F-8927-7A0A-71F3-42934FB14C85}"/>
                </a:ext>
              </a:extLst>
            </p:cNvPr>
            <p:cNvSpPr/>
            <p:nvPr/>
          </p:nvSpPr>
          <p:spPr>
            <a:xfrm>
              <a:off x="4561547" y="1738602"/>
              <a:ext cx="406653" cy="3665"/>
            </a:xfrm>
            <a:custGeom>
              <a:avLst/>
              <a:gdLst/>
              <a:ahLst/>
              <a:cxnLst/>
              <a:rect l="l" t="t" r="r" b="b"/>
              <a:pathLst>
                <a:path w="842805" h="7596" extrusionOk="0">
                  <a:moveTo>
                    <a:pt x="842805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CB7B87-ABA4-BE69-AA32-F595EFF1ED87}"/>
              </a:ext>
            </a:extLst>
          </p:cNvPr>
          <p:cNvSpPr/>
          <p:nvPr/>
        </p:nvSpPr>
        <p:spPr>
          <a:xfrm>
            <a:off x="2190971" y="3695003"/>
            <a:ext cx="4834669" cy="54690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10" name="Google Shape;1110;p50"/>
          <p:cNvSpPr txBox="1">
            <a:spLocks noGrp="1"/>
          </p:cNvSpPr>
          <p:nvPr>
            <p:ph type="title"/>
          </p:nvPr>
        </p:nvSpPr>
        <p:spPr>
          <a:xfrm>
            <a:off x="1336153" y="990443"/>
            <a:ext cx="6813461" cy="325146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Выводы и рекомендации</a:t>
            </a:r>
            <a:endParaRPr b="1" dirty="0"/>
          </a:p>
        </p:txBody>
      </p:sp>
      <p:grpSp>
        <p:nvGrpSpPr>
          <p:cNvPr id="1116" name="Google Shape;1116;p50"/>
          <p:cNvGrpSpPr/>
          <p:nvPr/>
        </p:nvGrpSpPr>
        <p:grpSpPr>
          <a:xfrm>
            <a:off x="554728" y="1452090"/>
            <a:ext cx="1277710" cy="851703"/>
            <a:chOff x="5491417" y="588600"/>
            <a:chExt cx="1098728" cy="732459"/>
          </a:xfrm>
        </p:grpSpPr>
        <p:sp>
          <p:nvSpPr>
            <p:cNvPr id="1117" name="Google Shape;1117;p50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50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50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50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50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50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50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50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50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50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50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50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50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50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50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50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50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50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50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50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50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50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50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50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50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50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50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50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50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50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50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50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50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50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50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50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50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54" name="Google Shape;1154;p50"/>
          <p:cNvGrpSpPr/>
          <p:nvPr/>
        </p:nvGrpSpPr>
        <p:grpSpPr>
          <a:xfrm>
            <a:off x="7143159" y="3517468"/>
            <a:ext cx="902056" cy="901976"/>
            <a:chOff x="4246593" y="503852"/>
            <a:chExt cx="902056" cy="901976"/>
          </a:xfrm>
        </p:grpSpPr>
        <p:grpSp>
          <p:nvGrpSpPr>
            <p:cNvPr id="1155" name="Google Shape;1155;p50"/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1156" name="Google Shape;1156;p50"/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50"/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58" name="Google Shape;1158;p50"/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50"/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60" name="Google Shape;1160;p50"/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1161" name="Google Shape;1161;p50"/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50"/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50"/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p49"/>
          <p:cNvSpPr txBox="1">
            <a:spLocks noGrp="1"/>
          </p:cNvSpPr>
          <p:nvPr>
            <p:ph type="title"/>
          </p:nvPr>
        </p:nvSpPr>
        <p:spPr>
          <a:xfrm>
            <a:off x="720000" y="1663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 какой канал и регион инвестировать</a:t>
            </a:r>
            <a:endParaRPr b="1" dirty="0"/>
          </a:p>
        </p:txBody>
      </p:sp>
      <p:graphicFrame>
        <p:nvGraphicFramePr>
          <p:cNvPr id="1099" name="Google Shape;1099;p49"/>
          <p:cNvGraphicFramePr/>
          <p:nvPr>
            <p:extLst>
              <p:ext uri="{D42A27DB-BD31-4B8C-83A1-F6EECF244321}">
                <p14:modId xmlns:p14="http://schemas.microsoft.com/office/powerpoint/2010/main" val="1954771087"/>
              </p:ext>
            </p:extLst>
          </p:nvPr>
        </p:nvGraphicFramePr>
        <p:xfrm>
          <a:off x="828206" y="872997"/>
          <a:ext cx="7091238" cy="4022250"/>
        </p:xfrm>
        <a:graphic>
          <a:graphicData uri="http://schemas.openxmlformats.org/drawingml/2006/table">
            <a:tbl>
              <a:tblPr>
                <a:noFill/>
                <a:tableStyleId>{AAD4FF98-227F-452A-84B2-AA045A303433}</a:tableStyleId>
              </a:tblPr>
              <a:tblGrid>
                <a:gridCol w="1619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35634736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США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Великобритания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Франция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1" dirty="0">
                          <a:solidFill>
                            <a:schemeClr val="dk1"/>
                          </a:solidFill>
                          <a:latin typeface="Passion One"/>
                          <a:ea typeface="Passion One"/>
                          <a:cs typeface="Passion One"/>
                          <a:sym typeface="Passion One"/>
                        </a:rPr>
                        <a:t>Германия</a:t>
                      </a:r>
                      <a:endParaRPr sz="1600" b="1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Социальные сети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Passion One"/>
                        <a:ea typeface="Passion One"/>
                        <a:cs typeface="Passion One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Реклама у блогеров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9367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Контекстная реклама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008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Email-</a:t>
                      </a: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рассылки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ru-RU" sz="16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Passion One"/>
                          <a:cs typeface="Arial"/>
                          <a:sym typeface="Passion One"/>
                        </a:rPr>
                        <a:t>Органические</a:t>
                      </a:r>
                      <a:endParaRPr sz="1600" b="1" i="0" u="none" strike="noStrike" cap="none" dirty="0">
                        <a:solidFill>
                          <a:schemeClr val="dk1"/>
                        </a:solidFill>
                        <a:latin typeface="Arial"/>
                        <a:ea typeface="Passion One"/>
                        <a:cs typeface="Arial"/>
                        <a:sym typeface="Passion On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 dirty="0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965527"/>
                  </a:ext>
                </a:extLst>
              </a:tr>
            </a:tbl>
          </a:graphicData>
        </a:graphic>
      </p:graphicFrame>
      <p:sp>
        <p:nvSpPr>
          <p:cNvPr id="1100" name="Google Shape;1100;p49"/>
          <p:cNvSpPr/>
          <p:nvPr/>
        </p:nvSpPr>
        <p:spPr>
          <a:xfrm>
            <a:off x="2899389" y="1703170"/>
            <a:ext cx="526629" cy="388525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00;p49">
            <a:extLst>
              <a:ext uri="{FF2B5EF4-FFF2-40B4-BE49-F238E27FC236}">
                <a16:creationId xmlns:a16="http://schemas.microsoft.com/office/drawing/2014/main" id="{1ADA9690-FB55-CC38-D970-4F91F348B361}"/>
              </a:ext>
            </a:extLst>
          </p:cNvPr>
          <p:cNvSpPr/>
          <p:nvPr/>
        </p:nvSpPr>
        <p:spPr>
          <a:xfrm>
            <a:off x="4179549" y="2374142"/>
            <a:ext cx="526629" cy="388525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1100;p49">
            <a:extLst>
              <a:ext uri="{FF2B5EF4-FFF2-40B4-BE49-F238E27FC236}">
                <a16:creationId xmlns:a16="http://schemas.microsoft.com/office/drawing/2014/main" id="{992CA735-7946-226B-FF52-3AD1721F38D4}"/>
              </a:ext>
            </a:extLst>
          </p:cNvPr>
          <p:cNvSpPr/>
          <p:nvPr/>
        </p:nvSpPr>
        <p:spPr>
          <a:xfrm>
            <a:off x="2899388" y="4316597"/>
            <a:ext cx="526629" cy="388525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1100;p49">
            <a:extLst>
              <a:ext uri="{FF2B5EF4-FFF2-40B4-BE49-F238E27FC236}">
                <a16:creationId xmlns:a16="http://schemas.microsoft.com/office/drawing/2014/main" id="{CC8EB10A-848D-D949-4805-03BD5278435A}"/>
              </a:ext>
            </a:extLst>
          </p:cNvPr>
          <p:cNvSpPr/>
          <p:nvPr/>
        </p:nvSpPr>
        <p:spPr>
          <a:xfrm>
            <a:off x="4179549" y="4316596"/>
            <a:ext cx="526629" cy="388525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1100;p49">
            <a:extLst>
              <a:ext uri="{FF2B5EF4-FFF2-40B4-BE49-F238E27FC236}">
                <a16:creationId xmlns:a16="http://schemas.microsoft.com/office/drawing/2014/main" id="{69141470-BBCF-2E24-655F-B3E07716A5E3}"/>
              </a:ext>
            </a:extLst>
          </p:cNvPr>
          <p:cNvSpPr/>
          <p:nvPr/>
        </p:nvSpPr>
        <p:spPr>
          <a:xfrm>
            <a:off x="5580966" y="4316595"/>
            <a:ext cx="526629" cy="388525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" name="Google Shape;1100;p49">
            <a:extLst>
              <a:ext uri="{FF2B5EF4-FFF2-40B4-BE49-F238E27FC236}">
                <a16:creationId xmlns:a16="http://schemas.microsoft.com/office/drawing/2014/main" id="{F5AD9973-F9E4-AC24-65E7-AD1C1E59A9E6}"/>
              </a:ext>
            </a:extLst>
          </p:cNvPr>
          <p:cNvSpPr/>
          <p:nvPr/>
        </p:nvSpPr>
        <p:spPr>
          <a:xfrm>
            <a:off x="6982383" y="4316594"/>
            <a:ext cx="526629" cy="388525"/>
          </a:xfrm>
          <a:custGeom>
            <a:avLst/>
            <a:gdLst/>
            <a:ahLst/>
            <a:cxnLst/>
            <a:rect l="l" t="t" r="r" b="b"/>
            <a:pathLst>
              <a:path w="14151" h="10440" extrusionOk="0">
                <a:moveTo>
                  <a:pt x="11972" y="1"/>
                </a:moveTo>
                <a:lnTo>
                  <a:pt x="5563" y="6410"/>
                </a:lnTo>
                <a:cubicBezTo>
                  <a:pt x="5477" y="6497"/>
                  <a:pt x="5364" y="6540"/>
                  <a:pt x="5251" y="6540"/>
                </a:cubicBezTo>
                <a:cubicBezTo>
                  <a:pt x="5138" y="6540"/>
                  <a:pt x="5026" y="6497"/>
                  <a:pt x="4939" y="6410"/>
                </a:cubicBezTo>
                <a:lnTo>
                  <a:pt x="2178" y="3649"/>
                </a:lnTo>
                <a:lnTo>
                  <a:pt x="0" y="5827"/>
                </a:lnTo>
                <a:lnTo>
                  <a:pt x="4162" y="9989"/>
                </a:lnTo>
                <a:cubicBezTo>
                  <a:pt x="4453" y="10280"/>
                  <a:pt x="4842" y="10440"/>
                  <a:pt x="5251" y="10440"/>
                </a:cubicBezTo>
                <a:cubicBezTo>
                  <a:pt x="5660" y="10440"/>
                  <a:pt x="6056" y="10280"/>
                  <a:pt x="6340" y="9989"/>
                </a:cubicBezTo>
                <a:lnTo>
                  <a:pt x="14150" y="2179"/>
                </a:lnTo>
                <a:lnTo>
                  <a:pt x="1197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6" name="Google Shape;576;p35"/>
          <p:cNvGrpSpPr/>
          <p:nvPr/>
        </p:nvGrpSpPr>
        <p:grpSpPr>
          <a:xfrm>
            <a:off x="7783346" y="490666"/>
            <a:ext cx="901968" cy="901968"/>
            <a:chOff x="1350404" y="-3124999"/>
            <a:chExt cx="1570279" cy="1570279"/>
          </a:xfrm>
        </p:grpSpPr>
        <p:sp>
          <p:nvSpPr>
            <p:cNvPr id="577" name="Google Shape;577;p35"/>
            <p:cNvSpPr/>
            <p:nvPr/>
          </p:nvSpPr>
          <p:spPr>
            <a:xfrm>
              <a:off x="2135530" y="-3124999"/>
              <a:ext cx="2889" cy="1570279"/>
            </a:xfrm>
            <a:custGeom>
              <a:avLst/>
              <a:gdLst/>
              <a:ahLst/>
              <a:cxnLst/>
              <a:rect l="l" t="t" r="r" b="b"/>
              <a:pathLst>
                <a:path w="2889" h="1570279" extrusionOk="0">
                  <a:moveTo>
                    <a:pt x="0" y="0"/>
                  </a:moveTo>
                  <a:lnTo>
                    <a:pt x="0" y="157028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5"/>
            <p:cNvSpPr/>
            <p:nvPr/>
          </p:nvSpPr>
          <p:spPr>
            <a:xfrm>
              <a:off x="1350404" y="-2339874"/>
              <a:ext cx="1570279" cy="2889"/>
            </a:xfrm>
            <a:custGeom>
              <a:avLst/>
              <a:gdLst/>
              <a:ahLst/>
              <a:cxnLst/>
              <a:rect l="l" t="t" r="r" b="b"/>
              <a:pathLst>
                <a:path w="1570279" h="2889" extrusionOk="0">
                  <a:moveTo>
                    <a:pt x="1570280" y="0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0"/>
                  </a:moveTo>
                  <a:lnTo>
                    <a:pt x="0" y="1110342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5"/>
            <p:cNvSpPr/>
            <p:nvPr/>
          </p:nvSpPr>
          <p:spPr>
            <a:xfrm>
              <a:off x="1580345" y="-2895030"/>
              <a:ext cx="1110370" cy="1110341"/>
            </a:xfrm>
            <a:custGeom>
              <a:avLst/>
              <a:gdLst/>
              <a:ahLst/>
              <a:cxnLst/>
              <a:rect l="l" t="t" r="r" b="b"/>
              <a:pathLst>
                <a:path w="1110370" h="1110341" extrusionOk="0">
                  <a:moveTo>
                    <a:pt x="1110371" y="1110342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1" name="Google Shape;581;p35"/>
          <p:cNvGrpSpPr/>
          <p:nvPr/>
        </p:nvGrpSpPr>
        <p:grpSpPr>
          <a:xfrm>
            <a:off x="493573" y="3840743"/>
            <a:ext cx="1266652" cy="1056012"/>
            <a:chOff x="5378191" y="1701500"/>
            <a:chExt cx="611171" cy="509535"/>
          </a:xfrm>
        </p:grpSpPr>
        <p:sp>
          <p:nvSpPr>
            <p:cNvPr id="582" name="Google Shape;582;p35"/>
            <p:cNvSpPr/>
            <p:nvPr/>
          </p:nvSpPr>
          <p:spPr>
            <a:xfrm>
              <a:off x="5378191" y="1701500"/>
              <a:ext cx="611171" cy="509535"/>
            </a:xfrm>
            <a:custGeom>
              <a:avLst/>
              <a:gdLst/>
              <a:ahLst/>
              <a:cxnLst/>
              <a:rect l="l" t="t" r="r" b="b"/>
              <a:pathLst>
                <a:path w="1266676" h="1056032" extrusionOk="0">
                  <a:moveTo>
                    <a:pt x="1101761" y="1056032"/>
                  </a:moveTo>
                  <a:lnTo>
                    <a:pt x="164915" y="1056032"/>
                  </a:lnTo>
                  <a:cubicBezTo>
                    <a:pt x="73835" y="1056032"/>
                    <a:pt x="0" y="982197"/>
                    <a:pt x="0" y="891118"/>
                  </a:cubicBezTo>
                  <a:lnTo>
                    <a:pt x="0" y="164915"/>
                  </a:lnTo>
                  <a:cubicBezTo>
                    <a:pt x="0" y="73836"/>
                    <a:pt x="73835" y="0"/>
                    <a:pt x="164915" y="0"/>
                  </a:cubicBezTo>
                  <a:lnTo>
                    <a:pt x="1101761" y="0"/>
                  </a:lnTo>
                  <a:cubicBezTo>
                    <a:pt x="1192841" y="0"/>
                    <a:pt x="1266677" y="73836"/>
                    <a:pt x="1266677" y="164915"/>
                  </a:cubicBezTo>
                  <a:lnTo>
                    <a:pt x="1266677" y="891118"/>
                  </a:lnTo>
                  <a:cubicBezTo>
                    <a:pt x="1266677" y="982197"/>
                    <a:pt x="1192841" y="1056032"/>
                    <a:pt x="1101761" y="1056032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5497928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5"/>
            <p:cNvSpPr/>
            <p:nvPr/>
          </p:nvSpPr>
          <p:spPr>
            <a:xfrm>
              <a:off x="560845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5"/>
            <p:cNvSpPr/>
            <p:nvPr/>
          </p:nvSpPr>
          <p:spPr>
            <a:xfrm>
              <a:off x="571901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5"/>
            <p:cNvSpPr/>
            <p:nvPr/>
          </p:nvSpPr>
          <p:spPr>
            <a:xfrm>
              <a:off x="5829571" y="1776815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5"/>
            <p:cNvSpPr/>
            <p:nvPr/>
          </p:nvSpPr>
          <p:spPr>
            <a:xfrm>
              <a:off x="5497928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5"/>
            <p:cNvSpPr/>
            <p:nvPr/>
          </p:nvSpPr>
          <p:spPr>
            <a:xfrm>
              <a:off x="560845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5"/>
            <p:cNvSpPr/>
            <p:nvPr/>
          </p:nvSpPr>
          <p:spPr>
            <a:xfrm>
              <a:off x="571901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rgbClr val="6E6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5"/>
            <p:cNvSpPr/>
            <p:nvPr/>
          </p:nvSpPr>
          <p:spPr>
            <a:xfrm>
              <a:off x="5829571" y="1882549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5"/>
            <p:cNvSpPr/>
            <p:nvPr/>
          </p:nvSpPr>
          <p:spPr>
            <a:xfrm>
              <a:off x="5497928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5"/>
            <p:cNvSpPr/>
            <p:nvPr/>
          </p:nvSpPr>
          <p:spPr>
            <a:xfrm>
              <a:off x="560845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5"/>
            <p:cNvSpPr/>
            <p:nvPr/>
          </p:nvSpPr>
          <p:spPr>
            <a:xfrm>
              <a:off x="571901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5"/>
            <p:cNvSpPr/>
            <p:nvPr/>
          </p:nvSpPr>
          <p:spPr>
            <a:xfrm>
              <a:off x="5829571" y="198832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5"/>
            <p:cNvSpPr/>
            <p:nvPr/>
          </p:nvSpPr>
          <p:spPr>
            <a:xfrm>
              <a:off x="5497928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6" h="71556" extrusionOk="0">
                  <a:moveTo>
                    <a:pt x="71556" y="35778"/>
                  </a:moveTo>
                  <a:cubicBezTo>
                    <a:pt x="71556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6" y="55529"/>
                    <a:pt x="71556" y="3577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5"/>
            <p:cNvSpPr/>
            <p:nvPr/>
          </p:nvSpPr>
          <p:spPr>
            <a:xfrm>
              <a:off x="560845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8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8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5"/>
            <p:cNvSpPr/>
            <p:nvPr/>
          </p:nvSpPr>
          <p:spPr>
            <a:xfrm>
              <a:off x="571901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5"/>
            <p:cNvSpPr/>
            <p:nvPr/>
          </p:nvSpPr>
          <p:spPr>
            <a:xfrm>
              <a:off x="5829571" y="2094090"/>
              <a:ext cx="34526" cy="34526"/>
            </a:xfrm>
            <a:custGeom>
              <a:avLst/>
              <a:gdLst/>
              <a:ahLst/>
              <a:cxnLst/>
              <a:rect l="l" t="t" r="r" b="b"/>
              <a:pathLst>
                <a:path w="71557" h="71556" extrusionOk="0">
                  <a:moveTo>
                    <a:pt x="71557" y="35778"/>
                  </a:moveTo>
                  <a:cubicBezTo>
                    <a:pt x="71557" y="16028"/>
                    <a:pt x="55529" y="0"/>
                    <a:pt x="35778" y="0"/>
                  </a:cubicBezTo>
                  <a:cubicBezTo>
                    <a:pt x="16028" y="0"/>
                    <a:pt x="0" y="16028"/>
                    <a:pt x="0" y="35778"/>
                  </a:cubicBezTo>
                  <a:cubicBezTo>
                    <a:pt x="0" y="55529"/>
                    <a:pt x="16028" y="71557"/>
                    <a:pt x="35778" y="71557"/>
                  </a:cubicBezTo>
                  <a:cubicBezTo>
                    <a:pt x="55529" y="71557"/>
                    <a:pt x="71557" y="55529"/>
                    <a:pt x="71557" y="3577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8EBEB9-F9AC-7195-0D87-20BF36074D70}"/>
              </a:ext>
            </a:extLst>
          </p:cNvPr>
          <p:cNvSpPr txBox="1"/>
          <p:nvPr/>
        </p:nvSpPr>
        <p:spPr>
          <a:xfrm>
            <a:off x="713029" y="1199491"/>
            <a:ext cx="5448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Увеличить инвестиции в рекламу в социальных сетях в США — высокая монетизация на покупателя (~5,468 $/покупатель).</a:t>
            </a:r>
          </a:p>
          <a:p>
            <a:pPr algn="l">
              <a:buClr>
                <a:schemeClr val="accent1"/>
              </a:buClr>
            </a:pPr>
            <a:endParaRPr lang="ru-RU" sz="1200" dirty="0">
              <a:solidFill>
                <a:schemeClr val="dk1"/>
              </a:solidFill>
              <a:latin typeface="Inter"/>
              <a:ea typeface="Inter"/>
            </a:endParaRP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Оптимизировать монетизацию в Великобритании: повысить средний чек или улучшить конверсию в доход, чтобы извлечь больше выгоды из высокого трафика.</a:t>
            </a:r>
          </a:p>
          <a:p>
            <a:pPr>
              <a:buClr>
                <a:schemeClr val="accent1"/>
              </a:buClr>
            </a:pPr>
            <a:endParaRPr lang="ru-RU" sz="1200" dirty="0">
              <a:solidFill>
                <a:schemeClr val="dk1"/>
              </a:solidFill>
              <a:latin typeface="Inter"/>
              <a:ea typeface="Inter"/>
            </a:endParaRPr>
          </a:p>
          <a:p>
            <a:pPr marL="171450" indent="-17145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ru-RU" sz="1200" dirty="0">
                <a:solidFill>
                  <a:schemeClr val="dk1"/>
                </a:solidFill>
                <a:latin typeface="Inter"/>
                <a:ea typeface="Inter"/>
              </a:rPr>
              <a:t>Протестировать кросс-канальные стратегии: например, запустить рекламу в соцсетях в США и рекламу у блогеров в Великобритании, чтобы выявить синергетический эффект, так как существует большая вероятность, что такую рекламу увидят жители обеих стран.</a:t>
            </a:r>
          </a:p>
        </p:txBody>
      </p:sp>
      <p:sp>
        <p:nvSpPr>
          <p:cNvPr id="10" name="Google Shape;635;p37">
            <a:extLst>
              <a:ext uri="{FF2B5EF4-FFF2-40B4-BE49-F238E27FC236}">
                <a16:creationId xmlns:a16="http://schemas.microsoft.com/office/drawing/2014/main" id="{DA890AD5-EA81-03DA-3322-B1FB1B43A3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98128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Рекомендации</a:t>
            </a:r>
            <a:endParaRPr b="1" dirty="0"/>
          </a:p>
        </p:txBody>
      </p:sp>
      <p:grpSp>
        <p:nvGrpSpPr>
          <p:cNvPr id="11" name="Google Shape;1154;p50">
            <a:extLst>
              <a:ext uri="{FF2B5EF4-FFF2-40B4-BE49-F238E27FC236}">
                <a16:creationId xmlns:a16="http://schemas.microsoft.com/office/drawing/2014/main" id="{7750ECCB-AAE5-E9F1-69F3-E449D5BA310B}"/>
              </a:ext>
            </a:extLst>
          </p:cNvPr>
          <p:cNvGrpSpPr/>
          <p:nvPr/>
        </p:nvGrpSpPr>
        <p:grpSpPr>
          <a:xfrm>
            <a:off x="6717293" y="3007998"/>
            <a:ext cx="1465523" cy="1467647"/>
            <a:chOff x="4246593" y="503852"/>
            <a:chExt cx="902056" cy="901976"/>
          </a:xfrm>
        </p:grpSpPr>
        <p:grpSp>
          <p:nvGrpSpPr>
            <p:cNvPr id="12" name="Google Shape;1155;p50">
              <a:extLst>
                <a:ext uri="{FF2B5EF4-FFF2-40B4-BE49-F238E27FC236}">
                  <a16:creationId xmlns:a16="http://schemas.microsoft.com/office/drawing/2014/main" id="{BC48B9B6-91D7-3E59-F39E-892223A715A4}"/>
                </a:ext>
              </a:extLst>
            </p:cNvPr>
            <p:cNvGrpSpPr/>
            <p:nvPr/>
          </p:nvGrpSpPr>
          <p:grpSpPr>
            <a:xfrm>
              <a:off x="4246593" y="503900"/>
              <a:ext cx="901831" cy="901928"/>
              <a:chOff x="5998919" y="3270921"/>
              <a:chExt cx="1426046" cy="1426198"/>
            </a:xfrm>
          </p:grpSpPr>
          <p:sp>
            <p:nvSpPr>
              <p:cNvPr id="19" name="Google Shape;1156;p50">
                <a:extLst>
                  <a:ext uri="{FF2B5EF4-FFF2-40B4-BE49-F238E27FC236}">
                    <a16:creationId xmlns:a16="http://schemas.microsoft.com/office/drawing/2014/main" id="{C80A55A4-3F3D-6736-38FD-197D4FFF3812}"/>
                  </a:ext>
                </a:extLst>
              </p:cNvPr>
              <p:cNvSpPr/>
              <p:nvPr/>
            </p:nvSpPr>
            <p:spPr>
              <a:xfrm>
                <a:off x="5998919" y="3270921"/>
                <a:ext cx="713137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713137" h="713137" extrusionOk="0">
                    <a:moveTo>
                      <a:pt x="713137" y="521407"/>
                    </a:move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lnTo>
                      <a:pt x="521408" y="713137"/>
                    </a:lnTo>
                    <a:cubicBezTo>
                      <a:pt x="521408" y="607245"/>
                      <a:pt x="607245" y="521407"/>
                      <a:pt x="713137" y="52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1157;p50">
                <a:extLst>
                  <a:ext uri="{FF2B5EF4-FFF2-40B4-BE49-F238E27FC236}">
                    <a16:creationId xmlns:a16="http://schemas.microsoft.com/office/drawing/2014/main" id="{A79EFED7-D10B-3BFE-C47A-BE746B79AE05}"/>
                  </a:ext>
                </a:extLst>
              </p:cNvPr>
              <p:cNvSpPr/>
              <p:nvPr/>
            </p:nvSpPr>
            <p:spPr>
              <a:xfrm>
                <a:off x="5998919" y="3983982"/>
                <a:ext cx="1426046" cy="713137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713137" extrusionOk="0">
                    <a:moveTo>
                      <a:pt x="904715" y="5165"/>
                    </a:moveTo>
                    <a:cubicBezTo>
                      <a:pt x="901981" y="108702"/>
                      <a:pt x="817282" y="191730"/>
                      <a:pt x="713137" y="191730"/>
                    </a:cubicBezTo>
                    <a:cubicBezTo>
                      <a:pt x="607245" y="191730"/>
                      <a:pt x="521408" y="105892"/>
                      <a:pt x="521408" y="0"/>
                    </a:cubicBezTo>
                    <a:lnTo>
                      <a:pt x="0" y="0"/>
                    </a:lnTo>
                    <a:cubicBezTo>
                      <a:pt x="0" y="393866"/>
                      <a:pt x="319271" y="713137"/>
                      <a:pt x="713137" y="713137"/>
                    </a:cubicBezTo>
                    <a:cubicBezTo>
                      <a:pt x="1100623" y="713137"/>
                      <a:pt x="1415867" y="404121"/>
                      <a:pt x="1426047" y="19067"/>
                    </a:cubicBezTo>
                    <a:lnTo>
                      <a:pt x="904715" y="516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" name="Google Shape;1158;p50">
              <a:extLst>
                <a:ext uri="{FF2B5EF4-FFF2-40B4-BE49-F238E27FC236}">
                  <a16:creationId xmlns:a16="http://schemas.microsoft.com/office/drawing/2014/main" id="{65D3DC9D-74C4-B504-ACB7-005F47832DDD}"/>
                </a:ext>
              </a:extLst>
            </p:cNvPr>
            <p:cNvSpPr/>
            <p:nvPr/>
          </p:nvSpPr>
          <p:spPr>
            <a:xfrm>
              <a:off x="4783305" y="636091"/>
              <a:ext cx="365344" cy="330991"/>
            </a:xfrm>
            <a:custGeom>
              <a:avLst/>
              <a:gdLst/>
              <a:ahLst/>
              <a:cxnLst/>
              <a:rect l="l" t="t" r="r" b="b"/>
              <a:pathLst>
                <a:path w="577619" h="523306" extrusionOk="0">
                  <a:moveTo>
                    <a:pt x="56213" y="504164"/>
                  </a:moveTo>
                  <a:cubicBezTo>
                    <a:pt x="56213" y="505911"/>
                    <a:pt x="56136" y="507582"/>
                    <a:pt x="56060" y="509329"/>
                  </a:cubicBezTo>
                  <a:lnTo>
                    <a:pt x="577392" y="523306"/>
                  </a:lnTo>
                  <a:cubicBezTo>
                    <a:pt x="577544" y="516926"/>
                    <a:pt x="577620" y="510621"/>
                    <a:pt x="577620" y="504240"/>
                  </a:cubicBezTo>
                  <a:cubicBezTo>
                    <a:pt x="577620" y="307345"/>
                    <a:pt x="497783" y="129060"/>
                    <a:pt x="368722" y="0"/>
                  </a:cubicBezTo>
                  <a:lnTo>
                    <a:pt x="0" y="368722"/>
                  </a:lnTo>
                  <a:cubicBezTo>
                    <a:pt x="34791" y="403286"/>
                    <a:pt x="56213" y="451218"/>
                    <a:pt x="56213" y="504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159;p50">
              <a:extLst>
                <a:ext uri="{FF2B5EF4-FFF2-40B4-BE49-F238E27FC236}">
                  <a16:creationId xmlns:a16="http://schemas.microsoft.com/office/drawing/2014/main" id="{2AA5A355-3468-EC5F-1006-A418A68E3DE4}"/>
                </a:ext>
              </a:extLst>
            </p:cNvPr>
            <p:cNvSpPr/>
            <p:nvPr/>
          </p:nvSpPr>
          <p:spPr>
            <a:xfrm>
              <a:off x="4810784" y="788761"/>
              <a:ext cx="309659" cy="122566"/>
            </a:xfrm>
            <a:custGeom>
              <a:avLst/>
              <a:gdLst/>
              <a:ahLst/>
              <a:cxnLst/>
              <a:rect l="l" t="t" r="r" b="b"/>
              <a:pathLst>
                <a:path w="489579" h="193780" extrusionOk="0">
                  <a:moveTo>
                    <a:pt x="0" y="193781"/>
                  </a:moveTo>
                  <a:lnTo>
                    <a:pt x="489579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" name="Google Shape;1160;p50">
              <a:extLst>
                <a:ext uri="{FF2B5EF4-FFF2-40B4-BE49-F238E27FC236}">
                  <a16:creationId xmlns:a16="http://schemas.microsoft.com/office/drawing/2014/main" id="{EC2D237B-D09F-F295-00AD-CCEB8A942BDF}"/>
                </a:ext>
              </a:extLst>
            </p:cNvPr>
            <p:cNvGrpSpPr/>
            <p:nvPr/>
          </p:nvGrpSpPr>
          <p:grpSpPr>
            <a:xfrm>
              <a:off x="4246593" y="503852"/>
              <a:ext cx="901928" cy="901976"/>
              <a:chOff x="5998919" y="3270845"/>
              <a:chExt cx="1426198" cy="1426274"/>
            </a:xfrm>
          </p:grpSpPr>
          <p:sp>
            <p:nvSpPr>
              <p:cNvPr id="16" name="Google Shape;1161;p50">
                <a:extLst>
                  <a:ext uri="{FF2B5EF4-FFF2-40B4-BE49-F238E27FC236}">
                    <a16:creationId xmlns:a16="http://schemas.microsoft.com/office/drawing/2014/main" id="{5B599176-2089-C0B2-5747-0519DE88D812}"/>
                  </a:ext>
                </a:extLst>
              </p:cNvPr>
              <p:cNvSpPr/>
              <p:nvPr/>
            </p:nvSpPr>
            <p:spPr>
              <a:xfrm>
                <a:off x="6712056" y="3270845"/>
                <a:ext cx="504239" cy="577619"/>
              </a:xfrm>
              <a:custGeom>
                <a:avLst/>
                <a:gdLst/>
                <a:ahLst/>
                <a:cxnLst/>
                <a:rect l="l" t="t" r="r" b="b"/>
                <a:pathLst>
                  <a:path w="504239" h="577619" extrusionOk="0">
                    <a:moveTo>
                      <a:pt x="135518" y="577620"/>
                    </a:moveTo>
                    <a:lnTo>
                      <a:pt x="504240" y="208897"/>
                    </a:lnTo>
                    <a:cubicBezTo>
                      <a:pt x="375179" y="79837"/>
                      <a:pt x="196895" y="0"/>
                      <a:pt x="0" y="0"/>
                    </a:cubicBezTo>
                    <a:lnTo>
                      <a:pt x="0" y="521408"/>
                    </a:lnTo>
                    <a:cubicBezTo>
                      <a:pt x="52946" y="521483"/>
                      <a:pt x="100879" y="542905"/>
                      <a:pt x="135518" y="57762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" name="Google Shape;1162;p50">
                <a:extLst>
                  <a:ext uri="{FF2B5EF4-FFF2-40B4-BE49-F238E27FC236}">
                    <a16:creationId xmlns:a16="http://schemas.microsoft.com/office/drawing/2014/main" id="{C09C6146-8B17-26F2-2681-C5BB98B8CFFF}"/>
                  </a:ext>
                </a:extLst>
              </p:cNvPr>
              <p:cNvSpPr/>
              <p:nvPr/>
            </p:nvSpPr>
            <p:spPr>
              <a:xfrm>
                <a:off x="6847498" y="3479895"/>
                <a:ext cx="577619" cy="523306"/>
              </a:xfrm>
              <a:custGeom>
                <a:avLst/>
                <a:gdLst/>
                <a:ahLst/>
                <a:cxnLst/>
                <a:rect l="l" t="t" r="r" b="b"/>
                <a:pathLst>
                  <a:path w="577619" h="523306" extrusionOk="0">
                    <a:moveTo>
                      <a:pt x="56213" y="504164"/>
                    </a:moveTo>
                    <a:cubicBezTo>
                      <a:pt x="56213" y="505911"/>
                      <a:pt x="56136" y="507582"/>
                      <a:pt x="56060" y="509329"/>
                    </a:cubicBezTo>
                    <a:lnTo>
                      <a:pt x="577392" y="523306"/>
                    </a:lnTo>
                    <a:cubicBezTo>
                      <a:pt x="577544" y="516926"/>
                      <a:pt x="577620" y="510621"/>
                      <a:pt x="577620" y="504240"/>
                    </a:cubicBezTo>
                    <a:cubicBezTo>
                      <a:pt x="577620" y="307345"/>
                      <a:pt x="497783" y="129060"/>
                      <a:pt x="368722" y="0"/>
                    </a:cubicBezTo>
                    <a:lnTo>
                      <a:pt x="0" y="368722"/>
                    </a:lnTo>
                    <a:cubicBezTo>
                      <a:pt x="34791" y="403286"/>
                      <a:pt x="56213" y="451218"/>
                      <a:pt x="56213" y="504164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" name="Google Shape;1163;p50">
                <a:extLst>
                  <a:ext uri="{FF2B5EF4-FFF2-40B4-BE49-F238E27FC236}">
                    <a16:creationId xmlns:a16="http://schemas.microsoft.com/office/drawing/2014/main" id="{2B14C605-A21C-45DA-2741-F184AAECE9B8}"/>
                  </a:ext>
                </a:extLst>
              </p:cNvPr>
              <p:cNvSpPr/>
              <p:nvPr/>
            </p:nvSpPr>
            <p:spPr>
              <a:xfrm>
                <a:off x="5998919" y="3270845"/>
                <a:ext cx="1426046" cy="1426274"/>
              </a:xfrm>
              <a:custGeom>
                <a:avLst/>
                <a:gdLst/>
                <a:ahLst/>
                <a:cxnLst/>
                <a:rect l="l" t="t" r="r" b="b"/>
                <a:pathLst>
                  <a:path w="1426046" h="1426274" extrusionOk="0">
                    <a:moveTo>
                      <a:pt x="904715" y="718303"/>
                    </a:moveTo>
                    <a:cubicBezTo>
                      <a:pt x="901981" y="821840"/>
                      <a:pt x="817282" y="904867"/>
                      <a:pt x="713137" y="904867"/>
                    </a:cubicBezTo>
                    <a:cubicBezTo>
                      <a:pt x="607245" y="904867"/>
                      <a:pt x="521408" y="819029"/>
                      <a:pt x="521408" y="713137"/>
                    </a:cubicBezTo>
                    <a:cubicBezTo>
                      <a:pt x="521408" y="607245"/>
                      <a:pt x="607245" y="521408"/>
                      <a:pt x="713137" y="521408"/>
                    </a:cubicBezTo>
                    <a:lnTo>
                      <a:pt x="713137" y="0"/>
                    </a:lnTo>
                    <a:cubicBezTo>
                      <a:pt x="319271" y="0"/>
                      <a:pt x="0" y="319271"/>
                      <a:pt x="0" y="713137"/>
                    </a:cubicBezTo>
                    <a:cubicBezTo>
                      <a:pt x="0" y="1107003"/>
                      <a:pt x="319271" y="1426274"/>
                      <a:pt x="713137" y="1426274"/>
                    </a:cubicBezTo>
                    <a:cubicBezTo>
                      <a:pt x="1100623" y="1426274"/>
                      <a:pt x="1415867" y="1117258"/>
                      <a:pt x="1426047" y="732204"/>
                    </a:cubicBezTo>
                    <a:lnTo>
                      <a:pt x="904715" y="718303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5"/>
          <p:cNvSpPr txBox="1">
            <a:spLocks noGrp="1"/>
          </p:cNvSpPr>
          <p:nvPr>
            <p:ph type="title"/>
          </p:nvPr>
        </p:nvSpPr>
        <p:spPr>
          <a:xfrm>
            <a:off x="4626096" y="1780107"/>
            <a:ext cx="363324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3 4</a:t>
            </a:r>
            <a:r>
              <a:rPr lang="ru-RU" dirty="0"/>
              <a:t>42</a:t>
            </a:r>
            <a:r>
              <a:rPr lang="en" dirty="0"/>
              <a:t> </a:t>
            </a:r>
            <a:r>
              <a:rPr lang="ru-RU" dirty="0"/>
              <a:t>519 </a:t>
            </a:r>
            <a:r>
              <a:rPr lang="en-US" dirty="0"/>
              <a:t>$</a:t>
            </a:r>
            <a:endParaRPr dirty="0"/>
          </a:p>
        </p:txBody>
      </p:sp>
      <p:sp>
        <p:nvSpPr>
          <p:cNvPr id="905" name="Google Shape;905;p45"/>
          <p:cNvSpPr txBox="1">
            <a:spLocks noGrp="1"/>
          </p:cNvSpPr>
          <p:nvPr>
            <p:ph type="subTitle" idx="1"/>
          </p:nvPr>
        </p:nvSpPr>
        <p:spPr>
          <a:xfrm>
            <a:off x="4745486" y="2743200"/>
            <a:ext cx="3161864" cy="9045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Доход при вливании только в рекламу в социальных сетях в США</a:t>
            </a:r>
            <a:endParaRPr dirty="0"/>
          </a:p>
        </p:txBody>
      </p:sp>
      <p:grpSp>
        <p:nvGrpSpPr>
          <p:cNvPr id="906" name="Google Shape;906;p45"/>
          <p:cNvGrpSpPr/>
          <p:nvPr/>
        </p:nvGrpSpPr>
        <p:grpSpPr>
          <a:xfrm>
            <a:off x="1282490" y="1513113"/>
            <a:ext cx="2231730" cy="1093837"/>
            <a:chOff x="-215300" y="3851305"/>
            <a:chExt cx="1694813" cy="830678"/>
          </a:xfrm>
        </p:grpSpPr>
        <p:sp>
          <p:nvSpPr>
            <p:cNvPr id="907" name="Google Shape;907;p45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8" name="Google Shape;908;p45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909" name="Google Shape;909;p45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5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5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2" name="Google Shape;912;p45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5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5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5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5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5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5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5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5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5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5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5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5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5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5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5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5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5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45"/>
          <p:cNvGrpSpPr/>
          <p:nvPr/>
        </p:nvGrpSpPr>
        <p:grpSpPr>
          <a:xfrm>
            <a:off x="2522746" y="2864348"/>
            <a:ext cx="1536351" cy="1024197"/>
            <a:chOff x="5491417" y="588600"/>
            <a:chExt cx="1098728" cy="732459"/>
          </a:xfrm>
        </p:grpSpPr>
        <p:sp>
          <p:nvSpPr>
            <p:cNvPr id="931" name="Google Shape;931;p45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5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45"/>
          <p:cNvSpPr txBox="1">
            <a:spLocks noGrp="1"/>
          </p:cNvSpPr>
          <p:nvPr>
            <p:ph type="title"/>
          </p:nvPr>
        </p:nvSpPr>
        <p:spPr>
          <a:xfrm>
            <a:off x="4626096" y="1780107"/>
            <a:ext cx="3633240" cy="102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3 416 208</a:t>
            </a:r>
            <a:r>
              <a:rPr lang="ru-RU" dirty="0"/>
              <a:t> </a:t>
            </a:r>
            <a:r>
              <a:rPr lang="en-US" dirty="0"/>
              <a:t>$</a:t>
            </a:r>
            <a:endParaRPr dirty="0"/>
          </a:p>
        </p:txBody>
      </p:sp>
      <p:sp>
        <p:nvSpPr>
          <p:cNvPr id="905" name="Google Shape;905;p45"/>
          <p:cNvSpPr txBox="1">
            <a:spLocks noGrp="1"/>
          </p:cNvSpPr>
          <p:nvPr>
            <p:ph type="subTitle" idx="1"/>
          </p:nvPr>
        </p:nvSpPr>
        <p:spPr>
          <a:xfrm>
            <a:off x="4745486" y="2743200"/>
            <a:ext cx="3161864" cy="126796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Доход при вливании в рекламу в социальных сетях в США  и у блогеров в Великобритании</a:t>
            </a:r>
            <a:endParaRPr dirty="0"/>
          </a:p>
        </p:txBody>
      </p:sp>
      <p:grpSp>
        <p:nvGrpSpPr>
          <p:cNvPr id="906" name="Google Shape;906;p45"/>
          <p:cNvGrpSpPr/>
          <p:nvPr/>
        </p:nvGrpSpPr>
        <p:grpSpPr>
          <a:xfrm>
            <a:off x="1282490" y="1513113"/>
            <a:ext cx="2231730" cy="1093837"/>
            <a:chOff x="-215300" y="3851305"/>
            <a:chExt cx="1694813" cy="830678"/>
          </a:xfrm>
        </p:grpSpPr>
        <p:sp>
          <p:nvSpPr>
            <p:cNvPr id="907" name="Google Shape;907;p45"/>
            <p:cNvSpPr/>
            <p:nvPr/>
          </p:nvSpPr>
          <p:spPr>
            <a:xfrm>
              <a:off x="861887" y="3947362"/>
              <a:ext cx="215345" cy="42222"/>
            </a:xfrm>
            <a:custGeom>
              <a:avLst/>
              <a:gdLst/>
              <a:ahLst/>
              <a:cxnLst/>
              <a:rect l="l" t="t" r="r" b="b"/>
              <a:pathLst>
                <a:path w="386269" h="75734" extrusionOk="0">
                  <a:moveTo>
                    <a:pt x="0" y="0"/>
                  </a:moveTo>
                  <a:lnTo>
                    <a:pt x="386270" y="0"/>
                  </a:lnTo>
                  <a:lnTo>
                    <a:pt x="386270" y="75735"/>
                  </a:lnTo>
                  <a:lnTo>
                    <a:pt x="0" y="7573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8" name="Google Shape;908;p45"/>
            <p:cNvGrpSpPr/>
            <p:nvPr/>
          </p:nvGrpSpPr>
          <p:grpSpPr>
            <a:xfrm>
              <a:off x="861887" y="4031521"/>
              <a:ext cx="137882" cy="60495"/>
              <a:chOff x="1949580" y="3551527"/>
              <a:chExt cx="247410" cy="108551"/>
            </a:xfrm>
          </p:grpSpPr>
          <p:sp>
            <p:nvSpPr>
              <p:cNvPr id="909" name="Google Shape;909;p45"/>
              <p:cNvSpPr/>
              <p:nvPr/>
            </p:nvSpPr>
            <p:spPr>
              <a:xfrm>
                <a:off x="1949580" y="3551527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0" name="Google Shape;910;p45"/>
              <p:cNvSpPr/>
              <p:nvPr/>
            </p:nvSpPr>
            <p:spPr>
              <a:xfrm>
                <a:off x="1949580" y="3601966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1" name="Google Shape;911;p45"/>
              <p:cNvSpPr/>
              <p:nvPr/>
            </p:nvSpPr>
            <p:spPr>
              <a:xfrm>
                <a:off x="1949580" y="3652482"/>
                <a:ext cx="247410" cy="7596"/>
              </a:xfrm>
              <a:custGeom>
                <a:avLst/>
                <a:gdLst/>
                <a:ahLst/>
                <a:cxnLst/>
                <a:rect l="l" t="t" r="r" b="b"/>
                <a:pathLst>
                  <a:path w="247410" h="7596" extrusionOk="0">
                    <a:moveTo>
                      <a:pt x="0" y="0"/>
                    </a:moveTo>
                    <a:lnTo>
                      <a:pt x="247410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12" name="Google Shape;912;p45"/>
            <p:cNvSpPr/>
            <p:nvPr/>
          </p:nvSpPr>
          <p:spPr>
            <a:xfrm>
              <a:off x="-85801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45"/>
            <p:cNvSpPr/>
            <p:nvPr/>
          </p:nvSpPr>
          <p:spPr>
            <a:xfrm>
              <a:off x="104109" y="4375950"/>
              <a:ext cx="105745" cy="305846"/>
            </a:xfrm>
            <a:custGeom>
              <a:avLst/>
              <a:gdLst/>
              <a:ahLst/>
              <a:cxnLst/>
              <a:rect l="l" t="t" r="r" b="b"/>
              <a:pathLst>
                <a:path w="189678" h="548602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48602"/>
                  </a:lnTo>
                  <a:lnTo>
                    <a:pt x="0" y="5486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45"/>
            <p:cNvSpPr/>
            <p:nvPr/>
          </p:nvSpPr>
          <p:spPr>
            <a:xfrm>
              <a:off x="294020" y="4210340"/>
              <a:ext cx="105745" cy="471557"/>
            </a:xfrm>
            <a:custGeom>
              <a:avLst/>
              <a:gdLst/>
              <a:ahLst/>
              <a:cxnLst/>
              <a:rect l="l" t="t" r="r" b="b"/>
              <a:pathLst>
                <a:path w="189678" h="845843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845844"/>
                  </a:lnTo>
                  <a:lnTo>
                    <a:pt x="0" y="845844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45"/>
            <p:cNvSpPr/>
            <p:nvPr/>
          </p:nvSpPr>
          <p:spPr>
            <a:xfrm>
              <a:off x="48397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45"/>
            <p:cNvSpPr/>
            <p:nvPr/>
          </p:nvSpPr>
          <p:spPr>
            <a:xfrm>
              <a:off x="673882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45"/>
            <p:cNvSpPr/>
            <p:nvPr/>
          </p:nvSpPr>
          <p:spPr>
            <a:xfrm>
              <a:off x="863835" y="4347926"/>
              <a:ext cx="105745" cy="333923"/>
            </a:xfrm>
            <a:custGeom>
              <a:avLst/>
              <a:gdLst/>
              <a:ahLst/>
              <a:cxnLst/>
              <a:rect l="l" t="t" r="r" b="b"/>
              <a:pathLst>
                <a:path w="189678" h="598965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598965"/>
                  </a:lnTo>
                  <a:lnTo>
                    <a:pt x="0" y="59896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45"/>
            <p:cNvSpPr/>
            <p:nvPr/>
          </p:nvSpPr>
          <p:spPr>
            <a:xfrm>
              <a:off x="1053745" y="4472133"/>
              <a:ext cx="105745" cy="209628"/>
            </a:xfrm>
            <a:custGeom>
              <a:avLst/>
              <a:gdLst/>
              <a:ahLst/>
              <a:cxnLst/>
              <a:rect l="l" t="t" r="r" b="b"/>
              <a:pathLst>
                <a:path w="189678" h="376014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376015"/>
                  </a:lnTo>
                  <a:lnTo>
                    <a:pt x="0" y="376015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45"/>
            <p:cNvSpPr/>
            <p:nvPr/>
          </p:nvSpPr>
          <p:spPr>
            <a:xfrm>
              <a:off x="1243698" y="4070172"/>
              <a:ext cx="105745" cy="611734"/>
            </a:xfrm>
            <a:custGeom>
              <a:avLst/>
              <a:gdLst/>
              <a:ahLst/>
              <a:cxnLst/>
              <a:rect l="l" t="t" r="r" b="b"/>
              <a:pathLst>
                <a:path w="189678" h="1097280" extrusionOk="0">
                  <a:moveTo>
                    <a:pt x="0" y="0"/>
                  </a:moveTo>
                  <a:lnTo>
                    <a:pt x="189679" y="0"/>
                  </a:lnTo>
                  <a:lnTo>
                    <a:pt x="189679" y="1097280"/>
                  </a:lnTo>
                  <a:lnTo>
                    <a:pt x="0" y="1097280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45"/>
            <p:cNvSpPr/>
            <p:nvPr/>
          </p:nvSpPr>
          <p:spPr>
            <a:xfrm>
              <a:off x="-32968" y="4087783"/>
              <a:ext cx="1329975" cy="420315"/>
            </a:xfrm>
            <a:custGeom>
              <a:avLst/>
              <a:gdLst/>
              <a:ahLst/>
              <a:cxnLst/>
              <a:rect l="l" t="t" r="r" b="b"/>
              <a:pathLst>
                <a:path w="2385606" h="753929" extrusionOk="0">
                  <a:moveTo>
                    <a:pt x="0" y="0"/>
                  </a:moveTo>
                  <a:lnTo>
                    <a:pt x="340844" y="555135"/>
                  </a:lnTo>
                  <a:lnTo>
                    <a:pt x="681613" y="262147"/>
                  </a:lnTo>
                  <a:lnTo>
                    <a:pt x="1022381" y="0"/>
                  </a:lnTo>
                  <a:lnTo>
                    <a:pt x="1363225" y="0"/>
                  </a:lnTo>
                  <a:lnTo>
                    <a:pt x="1703993" y="517077"/>
                  </a:lnTo>
                  <a:lnTo>
                    <a:pt x="2044838" y="753929"/>
                  </a:lnTo>
                  <a:lnTo>
                    <a:pt x="238560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45"/>
            <p:cNvSpPr/>
            <p:nvPr/>
          </p:nvSpPr>
          <p:spPr>
            <a:xfrm>
              <a:off x="-61417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45"/>
            <p:cNvSpPr/>
            <p:nvPr/>
          </p:nvSpPr>
          <p:spPr>
            <a:xfrm>
              <a:off x="128536" y="4354614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45"/>
            <p:cNvSpPr/>
            <p:nvPr/>
          </p:nvSpPr>
          <p:spPr>
            <a:xfrm>
              <a:off x="318446" y="418938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45"/>
            <p:cNvSpPr/>
            <p:nvPr/>
          </p:nvSpPr>
          <p:spPr>
            <a:xfrm>
              <a:off x="508356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5" y="102094"/>
                    <a:pt x="0" y="79239"/>
                    <a:pt x="0" y="51047"/>
                  </a:cubicBezTo>
                  <a:cubicBezTo>
                    <a:pt x="0" y="22854"/>
                    <a:pt x="22855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45"/>
            <p:cNvSpPr/>
            <p:nvPr/>
          </p:nvSpPr>
          <p:spPr>
            <a:xfrm>
              <a:off x="698309" y="4059335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45"/>
            <p:cNvSpPr/>
            <p:nvPr/>
          </p:nvSpPr>
          <p:spPr>
            <a:xfrm>
              <a:off x="893172" y="4336368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45"/>
            <p:cNvSpPr/>
            <p:nvPr/>
          </p:nvSpPr>
          <p:spPr>
            <a:xfrm>
              <a:off x="1078172" y="4457909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45"/>
            <p:cNvSpPr/>
            <p:nvPr/>
          </p:nvSpPr>
          <p:spPr>
            <a:xfrm>
              <a:off x="1268082" y="4046253"/>
              <a:ext cx="56917" cy="56917"/>
            </a:xfrm>
            <a:custGeom>
              <a:avLst/>
              <a:gdLst/>
              <a:ahLst/>
              <a:cxnLst/>
              <a:rect l="l" t="t" r="r" b="b"/>
              <a:pathLst>
                <a:path w="102093" h="102093" extrusionOk="0">
                  <a:moveTo>
                    <a:pt x="102094" y="51047"/>
                  </a:moveTo>
                  <a:cubicBezTo>
                    <a:pt x="102094" y="79239"/>
                    <a:pt x="79239" y="102094"/>
                    <a:pt x="51047" y="102094"/>
                  </a:cubicBezTo>
                  <a:cubicBezTo>
                    <a:pt x="22854" y="102094"/>
                    <a:pt x="0" y="79239"/>
                    <a:pt x="0" y="51047"/>
                  </a:cubicBezTo>
                  <a:cubicBezTo>
                    <a:pt x="0" y="22854"/>
                    <a:pt x="22854" y="0"/>
                    <a:pt x="51047" y="0"/>
                  </a:cubicBezTo>
                  <a:cubicBezTo>
                    <a:pt x="79239" y="0"/>
                    <a:pt x="102094" y="22854"/>
                    <a:pt x="102094" y="510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45"/>
            <p:cNvSpPr/>
            <p:nvPr/>
          </p:nvSpPr>
          <p:spPr>
            <a:xfrm>
              <a:off x="-215300" y="3851305"/>
              <a:ext cx="1694813" cy="830678"/>
            </a:xfrm>
            <a:custGeom>
              <a:avLst/>
              <a:gdLst/>
              <a:ahLst/>
              <a:cxnLst/>
              <a:rect l="l" t="t" r="r" b="b"/>
              <a:pathLst>
                <a:path w="3040023" h="1490006" extrusionOk="0">
                  <a:moveTo>
                    <a:pt x="2916053" y="1490007"/>
                  </a:moveTo>
                  <a:lnTo>
                    <a:pt x="123971" y="1490007"/>
                  </a:lnTo>
                  <a:cubicBezTo>
                    <a:pt x="55529" y="1490007"/>
                    <a:pt x="0" y="1434478"/>
                    <a:pt x="0" y="1366036"/>
                  </a:cubicBezTo>
                  <a:lnTo>
                    <a:pt x="0" y="123971"/>
                  </a:lnTo>
                  <a:cubicBezTo>
                    <a:pt x="0" y="55529"/>
                    <a:pt x="55529" y="0"/>
                    <a:pt x="123971" y="0"/>
                  </a:cubicBezTo>
                  <a:lnTo>
                    <a:pt x="2916053" y="0"/>
                  </a:lnTo>
                  <a:cubicBezTo>
                    <a:pt x="2984495" y="0"/>
                    <a:pt x="3040024" y="55529"/>
                    <a:pt x="3040024" y="123971"/>
                  </a:cubicBezTo>
                  <a:lnTo>
                    <a:pt x="3040024" y="1366036"/>
                  </a:lnTo>
                  <a:cubicBezTo>
                    <a:pt x="3040024" y="1434554"/>
                    <a:pt x="2984495" y="1490007"/>
                    <a:pt x="2916053" y="14900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45"/>
          <p:cNvGrpSpPr/>
          <p:nvPr/>
        </p:nvGrpSpPr>
        <p:grpSpPr>
          <a:xfrm>
            <a:off x="2522746" y="2864348"/>
            <a:ext cx="1536351" cy="1024197"/>
            <a:chOff x="5491417" y="588600"/>
            <a:chExt cx="1098728" cy="732459"/>
          </a:xfrm>
        </p:grpSpPr>
        <p:sp>
          <p:nvSpPr>
            <p:cNvPr id="931" name="Google Shape;931;p45"/>
            <p:cNvSpPr/>
            <p:nvPr/>
          </p:nvSpPr>
          <p:spPr>
            <a:xfrm>
              <a:off x="5491417" y="588600"/>
              <a:ext cx="183058" cy="183057"/>
            </a:xfrm>
            <a:custGeom>
              <a:avLst/>
              <a:gdLst/>
              <a:ahLst/>
              <a:cxnLst/>
              <a:rect l="l" t="t" r="r" b="b"/>
              <a:pathLst>
                <a:path w="254247" h="254246" extrusionOk="0">
                  <a:moveTo>
                    <a:pt x="254248" y="254247"/>
                  </a:moveTo>
                  <a:lnTo>
                    <a:pt x="0" y="254247"/>
                  </a:lnTo>
                  <a:lnTo>
                    <a:pt x="0" y="106044"/>
                  </a:lnTo>
                  <a:cubicBezTo>
                    <a:pt x="0" y="47477"/>
                    <a:pt x="47477" y="0"/>
                    <a:pt x="106044" y="0"/>
                  </a:cubicBezTo>
                  <a:lnTo>
                    <a:pt x="254248" y="0"/>
                  </a:lnTo>
                  <a:lnTo>
                    <a:pt x="254248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45"/>
            <p:cNvSpPr/>
            <p:nvPr/>
          </p:nvSpPr>
          <p:spPr>
            <a:xfrm>
              <a:off x="549141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45"/>
            <p:cNvSpPr/>
            <p:nvPr/>
          </p:nvSpPr>
          <p:spPr>
            <a:xfrm>
              <a:off x="549141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45"/>
            <p:cNvSpPr/>
            <p:nvPr/>
          </p:nvSpPr>
          <p:spPr>
            <a:xfrm>
              <a:off x="5491417" y="1138002"/>
              <a:ext cx="183058" cy="183002"/>
            </a:xfrm>
            <a:custGeom>
              <a:avLst/>
              <a:gdLst/>
              <a:ahLst/>
              <a:cxnLst/>
              <a:rect l="l" t="t" r="r" b="b"/>
              <a:pathLst>
                <a:path w="254247" h="254170" extrusionOk="0">
                  <a:moveTo>
                    <a:pt x="254248" y="254171"/>
                  </a:moveTo>
                  <a:lnTo>
                    <a:pt x="106044" y="254171"/>
                  </a:lnTo>
                  <a:cubicBezTo>
                    <a:pt x="47477" y="254171"/>
                    <a:pt x="0" y="206694"/>
                    <a:pt x="0" y="148127"/>
                  </a:cubicBezTo>
                  <a:lnTo>
                    <a:pt x="0" y="0"/>
                  </a:lnTo>
                  <a:lnTo>
                    <a:pt x="254248" y="0"/>
                  </a:lnTo>
                  <a:lnTo>
                    <a:pt x="254248" y="254171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45"/>
            <p:cNvSpPr/>
            <p:nvPr/>
          </p:nvSpPr>
          <p:spPr>
            <a:xfrm>
              <a:off x="5674551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45"/>
            <p:cNvSpPr/>
            <p:nvPr/>
          </p:nvSpPr>
          <p:spPr>
            <a:xfrm>
              <a:off x="5674551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45"/>
            <p:cNvSpPr/>
            <p:nvPr/>
          </p:nvSpPr>
          <p:spPr>
            <a:xfrm>
              <a:off x="5674551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45"/>
            <p:cNvSpPr/>
            <p:nvPr/>
          </p:nvSpPr>
          <p:spPr>
            <a:xfrm>
              <a:off x="5674551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45"/>
            <p:cNvSpPr/>
            <p:nvPr/>
          </p:nvSpPr>
          <p:spPr>
            <a:xfrm>
              <a:off x="5857685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45"/>
            <p:cNvSpPr/>
            <p:nvPr/>
          </p:nvSpPr>
          <p:spPr>
            <a:xfrm>
              <a:off x="5857685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1" name="Google Shape;941;p45"/>
            <p:cNvSpPr/>
            <p:nvPr/>
          </p:nvSpPr>
          <p:spPr>
            <a:xfrm>
              <a:off x="5857685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2" name="Google Shape;942;p45"/>
            <p:cNvSpPr/>
            <p:nvPr/>
          </p:nvSpPr>
          <p:spPr>
            <a:xfrm>
              <a:off x="5857685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3" name="Google Shape;943;p45"/>
            <p:cNvSpPr/>
            <p:nvPr/>
          </p:nvSpPr>
          <p:spPr>
            <a:xfrm>
              <a:off x="6040819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4" name="Google Shape;944;p45"/>
            <p:cNvSpPr/>
            <p:nvPr/>
          </p:nvSpPr>
          <p:spPr>
            <a:xfrm>
              <a:off x="6040819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5" name="Google Shape;945;p45"/>
            <p:cNvSpPr/>
            <p:nvPr/>
          </p:nvSpPr>
          <p:spPr>
            <a:xfrm>
              <a:off x="6040819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6" name="Google Shape;946;p45"/>
            <p:cNvSpPr/>
            <p:nvPr/>
          </p:nvSpPr>
          <p:spPr>
            <a:xfrm>
              <a:off x="6040819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7" name="Google Shape;947;p45"/>
            <p:cNvSpPr/>
            <p:nvPr/>
          </p:nvSpPr>
          <p:spPr>
            <a:xfrm>
              <a:off x="6223953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8" name="Google Shape;948;p45"/>
            <p:cNvSpPr/>
            <p:nvPr/>
          </p:nvSpPr>
          <p:spPr>
            <a:xfrm>
              <a:off x="6223953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45"/>
            <p:cNvSpPr/>
            <p:nvPr/>
          </p:nvSpPr>
          <p:spPr>
            <a:xfrm>
              <a:off x="6223953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45"/>
            <p:cNvSpPr/>
            <p:nvPr/>
          </p:nvSpPr>
          <p:spPr>
            <a:xfrm>
              <a:off x="6223953" y="1138002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6" y="0"/>
                  </a:lnTo>
                  <a:lnTo>
                    <a:pt x="254246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45"/>
            <p:cNvSpPr/>
            <p:nvPr/>
          </p:nvSpPr>
          <p:spPr>
            <a:xfrm>
              <a:off x="6407087" y="588600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254247" y="254247"/>
                  </a:moveTo>
                  <a:lnTo>
                    <a:pt x="0" y="254247"/>
                  </a:lnTo>
                  <a:lnTo>
                    <a:pt x="0" y="0"/>
                  </a:lnTo>
                  <a:lnTo>
                    <a:pt x="148203" y="0"/>
                  </a:lnTo>
                  <a:cubicBezTo>
                    <a:pt x="206770" y="0"/>
                    <a:pt x="254247" y="47477"/>
                    <a:pt x="254247" y="106044"/>
                  </a:cubicBezTo>
                  <a:lnTo>
                    <a:pt x="254247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45"/>
            <p:cNvSpPr/>
            <p:nvPr/>
          </p:nvSpPr>
          <p:spPr>
            <a:xfrm>
              <a:off x="6407087" y="771734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45"/>
            <p:cNvSpPr/>
            <p:nvPr/>
          </p:nvSpPr>
          <p:spPr>
            <a:xfrm>
              <a:off x="6407087" y="954868"/>
              <a:ext cx="183057" cy="183057"/>
            </a:xfrm>
            <a:custGeom>
              <a:avLst/>
              <a:gdLst/>
              <a:ahLst/>
              <a:cxnLst/>
              <a:rect l="l" t="t" r="r" b="b"/>
              <a:pathLst>
                <a:path w="254246" h="254246" extrusionOk="0">
                  <a:moveTo>
                    <a:pt x="0" y="0"/>
                  </a:moveTo>
                  <a:lnTo>
                    <a:pt x="254247" y="0"/>
                  </a:lnTo>
                  <a:lnTo>
                    <a:pt x="254247" y="254247"/>
                  </a:lnTo>
                  <a:lnTo>
                    <a:pt x="0" y="254247"/>
                  </a:ln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45"/>
            <p:cNvSpPr/>
            <p:nvPr/>
          </p:nvSpPr>
          <p:spPr>
            <a:xfrm>
              <a:off x="6407032" y="1138002"/>
              <a:ext cx="183057" cy="183002"/>
            </a:xfrm>
            <a:custGeom>
              <a:avLst/>
              <a:gdLst/>
              <a:ahLst/>
              <a:cxnLst/>
              <a:rect l="l" t="t" r="r" b="b"/>
              <a:pathLst>
                <a:path w="254246" h="254170" extrusionOk="0">
                  <a:moveTo>
                    <a:pt x="148203" y="254171"/>
                  </a:moveTo>
                  <a:lnTo>
                    <a:pt x="0" y="254171"/>
                  </a:lnTo>
                  <a:lnTo>
                    <a:pt x="0" y="0"/>
                  </a:lnTo>
                  <a:lnTo>
                    <a:pt x="254247" y="0"/>
                  </a:lnTo>
                  <a:lnTo>
                    <a:pt x="254247" y="148203"/>
                  </a:lnTo>
                  <a:cubicBezTo>
                    <a:pt x="254323" y="206694"/>
                    <a:pt x="206770" y="254171"/>
                    <a:pt x="148203" y="2541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45"/>
            <p:cNvSpPr/>
            <p:nvPr/>
          </p:nvSpPr>
          <p:spPr>
            <a:xfrm>
              <a:off x="5646646" y="740710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76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45"/>
            <p:cNvSpPr/>
            <p:nvPr/>
          </p:nvSpPr>
          <p:spPr>
            <a:xfrm>
              <a:off x="5741250" y="8317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45"/>
            <p:cNvSpPr/>
            <p:nvPr/>
          </p:nvSpPr>
          <p:spPr>
            <a:xfrm>
              <a:off x="5961208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45"/>
            <p:cNvSpPr/>
            <p:nvPr/>
          </p:nvSpPr>
          <p:spPr>
            <a:xfrm>
              <a:off x="5829780" y="99059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45"/>
            <p:cNvSpPr/>
            <p:nvPr/>
          </p:nvSpPr>
          <p:spPr>
            <a:xfrm>
              <a:off x="6099858" y="1214768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0" y="60137"/>
                    <a:pt x="0" y="38741"/>
                  </a:cubicBezTo>
                  <a:cubicBezTo>
                    <a:pt x="0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45"/>
            <p:cNvSpPr/>
            <p:nvPr/>
          </p:nvSpPr>
          <p:spPr>
            <a:xfrm>
              <a:off x="5891007" y="92696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7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7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45"/>
            <p:cNvSpPr/>
            <p:nvPr/>
          </p:nvSpPr>
          <p:spPr>
            <a:xfrm>
              <a:off x="5543343" y="633029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45"/>
            <p:cNvSpPr/>
            <p:nvPr/>
          </p:nvSpPr>
          <p:spPr>
            <a:xfrm>
              <a:off x="5829780" y="85014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086" y="0"/>
                    <a:pt x="77482" y="17319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45"/>
            <p:cNvSpPr/>
            <p:nvPr/>
          </p:nvSpPr>
          <p:spPr>
            <a:xfrm>
              <a:off x="5741250" y="935444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37"/>
                    <a:pt x="60138" y="77482"/>
                    <a:pt x="38741" y="77482"/>
                  </a:cubicBezTo>
                  <a:cubicBezTo>
                    <a:pt x="17345" y="77482"/>
                    <a:pt x="1" y="60137"/>
                    <a:pt x="1" y="38741"/>
                  </a:cubicBezTo>
                  <a:cubicBezTo>
                    <a:pt x="1" y="17345"/>
                    <a:pt x="17345" y="0"/>
                    <a:pt x="38741" y="0"/>
                  </a:cubicBezTo>
                  <a:cubicBezTo>
                    <a:pt x="60138" y="0"/>
                    <a:pt x="77482" y="17345"/>
                    <a:pt x="77482" y="387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45"/>
            <p:cNvSpPr/>
            <p:nvPr/>
          </p:nvSpPr>
          <p:spPr>
            <a:xfrm>
              <a:off x="5575516" y="1018503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086" y="0"/>
                    <a:pt x="77482" y="17395"/>
                    <a:pt x="77482" y="387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45"/>
            <p:cNvSpPr/>
            <p:nvPr/>
          </p:nvSpPr>
          <p:spPr>
            <a:xfrm>
              <a:off x="5547610" y="1173732"/>
              <a:ext cx="55787" cy="55786"/>
            </a:xfrm>
            <a:custGeom>
              <a:avLst/>
              <a:gdLst/>
              <a:ahLst/>
              <a:cxnLst/>
              <a:rect l="l" t="t" r="r" b="b"/>
              <a:pathLst>
                <a:path w="77482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2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20"/>
                    <a:pt x="17320" y="0"/>
                    <a:pt x="38742" y="0"/>
                  </a:cubicBezTo>
                  <a:cubicBezTo>
                    <a:pt x="60163" y="0"/>
                    <a:pt x="77482" y="17396"/>
                    <a:pt x="77482" y="3874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45"/>
            <p:cNvSpPr/>
            <p:nvPr/>
          </p:nvSpPr>
          <p:spPr>
            <a:xfrm>
              <a:off x="5646646" y="878047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2" y="77482"/>
                    <a:pt x="38741" y="77482"/>
                  </a:cubicBezTo>
                  <a:cubicBezTo>
                    <a:pt x="17319" y="77482"/>
                    <a:pt x="0" y="60162"/>
                    <a:pt x="0" y="38741"/>
                  </a:cubicBezTo>
                  <a:cubicBezTo>
                    <a:pt x="0" y="17319"/>
                    <a:pt x="17319" y="0"/>
                    <a:pt x="38741" y="0"/>
                  </a:cubicBezTo>
                  <a:cubicBezTo>
                    <a:pt x="60162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45"/>
            <p:cNvSpPr/>
            <p:nvPr/>
          </p:nvSpPr>
          <p:spPr>
            <a:xfrm>
              <a:off x="6292621" y="803852"/>
              <a:ext cx="55786" cy="55786"/>
            </a:xfrm>
            <a:custGeom>
              <a:avLst/>
              <a:gdLst/>
              <a:ahLst/>
              <a:cxnLst/>
              <a:rect l="l" t="t" r="r" b="b"/>
              <a:pathLst>
                <a:path w="77481" h="77481" extrusionOk="0">
                  <a:moveTo>
                    <a:pt x="77482" y="38741"/>
                  </a:moveTo>
                  <a:cubicBezTo>
                    <a:pt x="77482" y="60162"/>
                    <a:pt x="60163" y="77482"/>
                    <a:pt x="38741" y="77482"/>
                  </a:cubicBezTo>
                  <a:cubicBezTo>
                    <a:pt x="17320" y="77482"/>
                    <a:pt x="0" y="60162"/>
                    <a:pt x="0" y="38741"/>
                  </a:cubicBezTo>
                  <a:cubicBezTo>
                    <a:pt x="0" y="17319"/>
                    <a:pt x="17320" y="0"/>
                    <a:pt x="38741" y="0"/>
                  </a:cubicBezTo>
                  <a:cubicBezTo>
                    <a:pt x="60163" y="0"/>
                    <a:pt x="77482" y="17319"/>
                    <a:pt x="77482" y="3874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9728384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sis and Statistics - 4th grade by Slidesgo">
  <a:themeElements>
    <a:clrScheme name="Simple Light">
      <a:dk1>
        <a:srgbClr val="17175A"/>
      </a:dk1>
      <a:lt1>
        <a:srgbClr val="FFFFFF"/>
      </a:lt1>
      <a:dk2>
        <a:srgbClr val="F6F2CC"/>
      </a:dk2>
      <a:lt2>
        <a:srgbClr val="FCBD0E"/>
      </a:lt2>
      <a:accent1>
        <a:srgbClr val="FA9D02"/>
      </a:accent1>
      <a:accent2>
        <a:srgbClr val="FC81FD"/>
      </a:accent2>
      <a:accent3>
        <a:srgbClr val="7CE1CF"/>
      </a:accent3>
      <a:accent4>
        <a:srgbClr val="6E6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1176</TotalTime>
  <Words>824</Words>
  <Application>Microsoft Office PowerPoint</Application>
  <PresentationFormat>Экран (16:9)</PresentationFormat>
  <Paragraphs>139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4" baseType="lpstr">
      <vt:lpstr>Wingdings</vt:lpstr>
      <vt:lpstr>Arial Black</vt:lpstr>
      <vt:lpstr>Passion One</vt:lpstr>
      <vt:lpstr>Darker Grotesque SemiBold</vt:lpstr>
      <vt:lpstr>Arial</vt:lpstr>
      <vt:lpstr>Inter</vt:lpstr>
      <vt:lpstr>Calibri</vt:lpstr>
      <vt:lpstr>Bebas Neue</vt:lpstr>
      <vt:lpstr>Data Analysis and Statistics - 4th grade by Slidesgo</vt:lpstr>
      <vt:lpstr>Delivery Dron</vt:lpstr>
      <vt:lpstr>Техническое задание</vt:lpstr>
      <vt:lpstr>Результаты предобработки</vt:lpstr>
      <vt:lpstr>Результаты аналитического и графического анализов</vt:lpstr>
      <vt:lpstr>Результаты расчётов </vt:lpstr>
      <vt:lpstr>Результаты проверки гипотез</vt:lpstr>
      <vt:lpstr>Результаты регрессионного моделирования</vt:lpstr>
      <vt:lpstr>Предсказание доходов при максимальных вливаниях в один канал</vt:lpstr>
      <vt:lpstr>Предсказание количества пользователей при максимальных вливаниях в один канал</vt:lpstr>
      <vt:lpstr>Дашборд</vt:lpstr>
      <vt:lpstr>Выводы и рекомендации</vt:lpstr>
      <vt:lpstr>В какой канал и регион инвестировать</vt:lpstr>
      <vt:lpstr>Рекомендации</vt:lpstr>
      <vt:lpstr>3 442 519 $</vt:lpstr>
      <vt:lpstr>3 416 208 $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Елизавета Скорик</cp:lastModifiedBy>
  <cp:revision>5</cp:revision>
  <dcterms:modified xsi:type="dcterms:W3CDTF">2025-12-12T12:41:42Z</dcterms:modified>
</cp:coreProperties>
</file>